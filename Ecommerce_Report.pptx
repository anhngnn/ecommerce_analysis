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70" r:id="rId5"/>
    <p:sldId id="271" r:id="rId6"/>
    <p:sldId id="272" r:id="rId7"/>
    <p:sldId id="273" r:id="rId8"/>
    <p:sldId id="274" r:id="rId9"/>
    <p:sldId id="275" r:id="rId10"/>
    <p:sldId id="269" r:id="rId11"/>
  </p:sldIdLst>
  <p:sldSz cx="18288000" cy="10287000"/>
  <p:notesSz cx="6858000" cy="9144000"/>
  <p:embeddedFontLst>
    <p:embeddedFont>
      <p:font typeface="Segoe UI Light" panose="020B0502040204020203" pitchFamily="34" charset="0"/>
      <p:regular r:id="rId12"/>
      <p:italic r:id="rId13"/>
    </p:embeddedFont>
    <p:embeddedFont>
      <p:font typeface="Poppins Bold" panose="020B0604020202020204" charset="0"/>
      <p:regular r:id="rId14"/>
    </p:embeddedFont>
    <p:embeddedFont>
      <p:font typeface="Segoe UI Black" panose="020B0A02040204020203" pitchFamily="34" charset="0"/>
      <p:bold r:id="rId15"/>
      <p:boldItalic r:id="rId16"/>
    </p:embeddedFont>
    <p:embeddedFont>
      <p:font typeface="Poppins Semi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989B"/>
    <a:srgbClr val="4DB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7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jpeg"/><Relationship Id="rId3" Type="http://schemas.openxmlformats.org/officeDocument/2006/relationships/image" Target="../media/image2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3.jpe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9.jpe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NUL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NUL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10" Type="http://schemas.openxmlformats.org/officeDocument/2006/relationships/image" Target="NUL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jpeg"/><Relationship Id="rId3" Type="http://schemas.openxmlformats.org/officeDocument/2006/relationships/image" Target="../media/image2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19.jpe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341491" y="6051085"/>
            <a:ext cx="24520492" cy="4402586"/>
          </a:xfrm>
          <a:custGeom>
            <a:avLst/>
            <a:gdLst/>
            <a:ahLst/>
            <a:cxnLst/>
            <a:rect l="l" t="t" r="r" b="b"/>
            <a:pathLst>
              <a:path w="24520492" h="4402586">
                <a:moveTo>
                  <a:pt x="24520492" y="0"/>
                </a:moveTo>
                <a:lnTo>
                  <a:pt x="0" y="0"/>
                </a:lnTo>
                <a:lnTo>
                  <a:pt x="0" y="4402586"/>
                </a:lnTo>
                <a:lnTo>
                  <a:pt x="24520492" y="4402586"/>
                </a:lnTo>
                <a:lnTo>
                  <a:pt x="24520492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168322">
            <a:off x="-591160" y="-1840415"/>
            <a:ext cx="7434779" cy="15382828"/>
            <a:chOff x="0" y="0"/>
            <a:chExt cx="1958131" cy="40514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8131" cy="4051444"/>
            </a:xfrm>
            <a:custGeom>
              <a:avLst/>
              <a:gdLst/>
              <a:ahLst/>
              <a:cxnLst/>
              <a:rect l="l" t="t" r="r" b="b"/>
              <a:pathLst>
                <a:path w="1958131" h="4051444">
                  <a:moveTo>
                    <a:pt x="0" y="0"/>
                  </a:moveTo>
                  <a:lnTo>
                    <a:pt x="1958131" y="0"/>
                  </a:lnTo>
                  <a:lnTo>
                    <a:pt x="1958131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958131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6579275">
            <a:off x="-3647729" y="4649456"/>
            <a:ext cx="13353097" cy="404258"/>
          </a:xfrm>
          <a:custGeom>
            <a:avLst/>
            <a:gdLst/>
            <a:ahLst/>
            <a:cxnLst/>
            <a:rect l="l" t="t" r="r" b="b"/>
            <a:pathLst>
              <a:path w="13353097" h="404258">
                <a:moveTo>
                  <a:pt x="0" y="0"/>
                </a:moveTo>
                <a:lnTo>
                  <a:pt x="13353096" y="0"/>
                </a:lnTo>
                <a:lnTo>
                  <a:pt x="13353096" y="404258"/>
                </a:lnTo>
                <a:lnTo>
                  <a:pt x="0" y="404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43398"/>
            </a:stretch>
          </a:blipFill>
        </p:spPr>
      </p:sp>
      <p:grpSp>
        <p:nvGrpSpPr>
          <p:cNvPr id="7" name="Group 7"/>
          <p:cNvGrpSpPr/>
          <p:nvPr/>
        </p:nvGrpSpPr>
        <p:grpSpPr>
          <a:xfrm rot="-1168322">
            <a:off x="-4404526" y="-1840415"/>
            <a:ext cx="7434779" cy="15382828"/>
            <a:chOff x="0" y="0"/>
            <a:chExt cx="1958131" cy="40514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8131" cy="4051444"/>
            </a:xfrm>
            <a:custGeom>
              <a:avLst/>
              <a:gdLst/>
              <a:ahLst/>
              <a:cxnLst/>
              <a:rect l="l" t="t" r="r" b="b"/>
              <a:pathLst>
                <a:path w="1958131" h="4051444">
                  <a:moveTo>
                    <a:pt x="0" y="0"/>
                  </a:moveTo>
                  <a:lnTo>
                    <a:pt x="1958131" y="0"/>
                  </a:lnTo>
                  <a:lnTo>
                    <a:pt x="1958131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39515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958131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2816" y="1461689"/>
            <a:ext cx="6973020" cy="7363621"/>
            <a:chOff x="0" y="0"/>
            <a:chExt cx="5960491" cy="6294374"/>
          </a:xfrm>
        </p:grpSpPr>
        <p:sp>
          <p:nvSpPr>
            <p:cNvPr id="11" name="Freeform 11"/>
            <p:cNvSpPr/>
            <p:nvPr/>
          </p:nvSpPr>
          <p:spPr>
            <a:xfrm>
              <a:off x="0" y="-44"/>
              <a:ext cx="5960480" cy="6294418"/>
            </a:xfrm>
            <a:custGeom>
              <a:avLst/>
              <a:gdLst/>
              <a:ahLst/>
              <a:cxnLst/>
              <a:rect l="l" t="t" r="r" b="b"/>
              <a:pathLst>
                <a:path w="5960480" h="6294418">
                  <a:moveTo>
                    <a:pt x="4226814" y="1119549"/>
                  </a:moveTo>
                  <a:cubicBezTo>
                    <a:pt x="4173601" y="967911"/>
                    <a:pt x="4001770" y="815892"/>
                    <a:pt x="3844798" y="781729"/>
                  </a:cubicBezTo>
                  <a:lnTo>
                    <a:pt x="285369" y="6521"/>
                  </a:lnTo>
                  <a:cubicBezTo>
                    <a:pt x="128397" y="-27642"/>
                    <a:pt x="0" y="75863"/>
                    <a:pt x="0" y="236518"/>
                  </a:cubicBezTo>
                  <a:lnTo>
                    <a:pt x="0" y="6002318"/>
                  </a:lnTo>
                  <a:cubicBezTo>
                    <a:pt x="0" y="6162973"/>
                    <a:pt x="131445" y="6294418"/>
                    <a:pt x="292100" y="6294418"/>
                  </a:cubicBezTo>
                  <a:lnTo>
                    <a:pt x="5749544" y="6294418"/>
                  </a:lnTo>
                  <a:cubicBezTo>
                    <a:pt x="5910199" y="6294418"/>
                    <a:pt x="5998083" y="6170339"/>
                    <a:pt x="5944997" y="6018828"/>
                  </a:cubicBezTo>
                  <a:lnTo>
                    <a:pt x="4226814" y="1119549"/>
                  </a:lnTo>
                  <a:close/>
                </a:path>
              </a:pathLst>
            </a:custGeom>
            <a:blipFill>
              <a:blip r:embed="rId5"/>
              <a:stretch>
                <a:fillRect l="-35802" r="-35802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 rot="-1168322">
            <a:off x="4937715" y="-2713330"/>
            <a:ext cx="887655" cy="8696949"/>
            <a:chOff x="0" y="0"/>
            <a:chExt cx="233786" cy="22905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3786" cy="2290554"/>
            </a:xfrm>
            <a:custGeom>
              <a:avLst/>
              <a:gdLst/>
              <a:ahLst/>
              <a:cxnLst/>
              <a:rect l="l" t="t" r="r" b="b"/>
              <a:pathLst>
                <a:path w="233786" h="2290554">
                  <a:moveTo>
                    <a:pt x="0" y="0"/>
                  </a:moveTo>
                  <a:lnTo>
                    <a:pt x="233786" y="0"/>
                  </a:lnTo>
                  <a:lnTo>
                    <a:pt x="233786" y="2290554"/>
                  </a:lnTo>
                  <a:lnTo>
                    <a:pt x="0" y="2290554"/>
                  </a:lnTo>
                  <a:close/>
                </a:path>
              </a:pathLst>
            </a:custGeom>
            <a:gradFill rotWithShape="1">
              <a:gsLst>
                <a:gs pos="0">
                  <a:srgbClr val="20989B">
                    <a:alpha val="100000"/>
                  </a:srgbClr>
                </a:gs>
                <a:gs pos="50000">
                  <a:srgbClr val="C3FEFF">
                    <a:alpha val="50500"/>
                  </a:srgbClr>
                </a:gs>
                <a:gs pos="100000">
                  <a:srgbClr val="F9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33786" cy="2347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168322">
            <a:off x="7299902" y="5618795"/>
            <a:ext cx="887655" cy="5600547"/>
            <a:chOff x="0" y="0"/>
            <a:chExt cx="233786" cy="14750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3786" cy="1475041"/>
            </a:xfrm>
            <a:custGeom>
              <a:avLst/>
              <a:gdLst/>
              <a:ahLst/>
              <a:cxnLst/>
              <a:rect l="l" t="t" r="r" b="b"/>
              <a:pathLst>
                <a:path w="233786" h="1475041">
                  <a:moveTo>
                    <a:pt x="0" y="0"/>
                  </a:moveTo>
                  <a:lnTo>
                    <a:pt x="233786" y="0"/>
                  </a:lnTo>
                  <a:lnTo>
                    <a:pt x="233786" y="1475041"/>
                  </a:lnTo>
                  <a:lnTo>
                    <a:pt x="0" y="1475041"/>
                  </a:lnTo>
                  <a:close/>
                </a:path>
              </a:pathLst>
            </a:custGeom>
            <a:gradFill rotWithShape="1">
              <a:gsLst>
                <a:gs pos="0">
                  <a:srgbClr val="F9FFFF">
                    <a:alpha val="0"/>
                  </a:srgbClr>
                </a:gs>
                <a:gs pos="50000">
                  <a:srgbClr val="C3FEFF">
                    <a:alpha val="50500"/>
                  </a:srgbClr>
                </a:gs>
                <a:gs pos="100000">
                  <a:srgbClr val="2098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33786" cy="1532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322406" y="8252378"/>
            <a:ext cx="1014510" cy="1005922"/>
          </a:xfrm>
          <a:custGeom>
            <a:avLst/>
            <a:gdLst/>
            <a:ahLst/>
            <a:cxnLst/>
            <a:rect l="l" t="t" r="r" b="b"/>
            <a:pathLst>
              <a:path w="1014510" h="1005922">
                <a:moveTo>
                  <a:pt x="0" y="0"/>
                </a:moveTo>
                <a:lnTo>
                  <a:pt x="1014510" y="0"/>
                </a:lnTo>
                <a:lnTo>
                  <a:pt x="1014510" y="1005922"/>
                </a:lnTo>
                <a:lnTo>
                  <a:pt x="0" y="1005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t="-106388" r="-103152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631539" y="1080376"/>
            <a:ext cx="1764021" cy="1764021"/>
          </a:xfrm>
          <a:custGeom>
            <a:avLst/>
            <a:gdLst/>
            <a:ahLst/>
            <a:cxnLst/>
            <a:rect l="l" t="t" r="r" b="b"/>
            <a:pathLst>
              <a:path w="1764021" h="1764021">
                <a:moveTo>
                  <a:pt x="0" y="0"/>
                </a:moveTo>
                <a:lnTo>
                  <a:pt x="1764021" y="0"/>
                </a:lnTo>
                <a:lnTo>
                  <a:pt x="1764021" y="1764020"/>
                </a:lnTo>
                <a:lnTo>
                  <a:pt x="0" y="17640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4999"/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953811" y="5004084"/>
            <a:ext cx="4591447" cy="4583099"/>
          </a:xfrm>
          <a:custGeom>
            <a:avLst/>
            <a:gdLst/>
            <a:ahLst/>
            <a:cxnLst/>
            <a:rect l="l" t="t" r="r" b="b"/>
            <a:pathLst>
              <a:path w="4591447" h="4583099">
                <a:moveTo>
                  <a:pt x="0" y="0"/>
                </a:moveTo>
                <a:lnTo>
                  <a:pt x="4591448" y="0"/>
                </a:lnTo>
                <a:lnTo>
                  <a:pt x="4591448" y="4583100"/>
                </a:lnTo>
                <a:lnTo>
                  <a:pt x="0" y="45831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5269577" y="5332968"/>
            <a:ext cx="3925332" cy="392533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05087" y="5568478"/>
            <a:ext cx="3454312" cy="345431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-50000"/>
              </a:stretch>
            </a:blipFill>
          </p:spPr>
        </p:sp>
      </p:grpSp>
      <p:sp>
        <p:nvSpPr>
          <p:cNvPr id="28" name="Freeform 28"/>
          <p:cNvSpPr/>
          <p:nvPr/>
        </p:nvSpPr>
        <p:spPr>
          <a:xfrm>
            <a:off x="7419087" y="1714102"/>
            <a:ext cx="2038150" cy="248284"/>
          </a:xfrm>
          <a:custGeom>
            <a:avLst/>
            <a:gdLst/>
            <a:ahLst/>
            <a:cxnLst/>
            <a:rect l="l" t="t" r="r" b="b"/>
            <a:pathLst>
              <a:path w="2038150" h="248284">
                <a:moveTo>
                  <a:pt x="0" y="0"/>
                </a:moveTo>
                <a:lnTo>
                  <a:pt x="2038151" y="0"/>
                </a:lnTo>
                <a:lnTo>
                  <a:pt x="2038151" y="248284"/>
                </a:lnTo>
                <a:lnTo>
                  <a:pt x="0" y="2482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1752420" y="8737432"/>
            <a:ext cx="453039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49"/>
              </a:lnSpc>
            </a:pPr>
            <a:r>
              <a:rPr lang="en-US" sz="2499" b="1" smtClean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Anh.ntm</a:t>
            </a:r>
            <a:endParaRPr lang="en-US" sz="24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415008" y="2587042"/>
            <a:ext cx="11101591" cy="2167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949"/>
              </a:lnSpc>
            </a:pPr>
            <a:r>
              <a:rPr lang="en-US" sz="12000" b="1" spc="-630" smtClean="0">
                <a:solidFill>
                  <a:srgbClr val="20989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E-COMMERCE</a:t>
            </a:r>
            <a:endParaRPr lang="en-US" sz="12000" b="1" spc="-630">
              <a:solidFill>
                <a:srgbClr val="20989B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918755" y="4455075"/>
            <a:ext cx="7340545" cy="2056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949"/>
              </a:lnSpc>
            </a:pPr>
            <a:r>
              <a:rPr lang="en-US" sz="12000" b="1" spc="-630" smtClean="0">
                <a:solidFill>
                  <a:srgbClr val="39515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ANALYSIS</a:t>
            </a:r>
            <a:endParaRPr lang="en-US" sz="12000" b="1" spc="-630">
              <a:solidFill>
                <a:srgbClr val="39515A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3275743" y="3488168"/>
            <a:ext cx="4378158" cy="872144"/>
            <a:chOff x="0" y="0"/>
            <a:chExt cx="2040125" cy="406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40125" cy="406400"/>
            </a:xfrm>
            <a:custGeom>
              <a:avLst/>
              <a:gdLst/>
              <a:ahLst/>
              <a:cxnLst/>
              <a:rect l="l" t="t" r="r" b="b"/>
              <a:pathLst>
                <a:path w="2040125" h="406400">
                  <a:moveTo>
                    <a:pt x="1836925" y="0"/>
                  </a:moveTo>
                  <a:cubicBezTo>
                    <a:pt x="1949150" y="0"/>
                    <a:pt x="2040125" y="90976"/>
                    <a:pt x="2040125" y="203200"/>
                  </a:cubicBezTo>
                  <a:cubicBezTo>
                    <a:pt x="2040125" y="315424"/>
                    <a:pt x="1949150" y="406400"/>
                    <a:pt x="183692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9515A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204012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3680108" y="3581021"/>
            <a:ext cx="3569427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4500" b="1" spc="-189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2013 </a:t>
            </a:r>
            <a:r>
              <a:rPr lang="en-US" sz="4500" b="1" spc="-1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 </a:t>
            </a:r>
            <a:r>
              <a:rPr lang="en-US" sz="4500" b="1" spc="-189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2015</a:t>
            </a:r>
            <a:endParaRPr lang="en-US" sz="4500" b="1" spc="-189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7261192" y="6051085"/>
            <a:ext cx="24520492" cy="4402586"/>
          </a:xfrm>
          <a:custGeom>
            <a:avLst/>
            <a:gdLst/>
            <a:ahLst/>
            <a:cxnLst/>
            <a:rect l="l" t="t" r="r" b="b"/>
            <a:pathLst>
              <a:path w="24520492" h="4402586">
                <a:moveTo>
                  <a:pt x="24520492" y="0"/>
                </a:moveTo>
                <a:lnTo>
                  <a:pt x="0" y="0"/>
                </a:lnTo>
                <a:lnTo>
                  <a:pt x="0" y="4402586"/>
                </a:lnTo>
                <a:lnTo>
                  <a:pt x="24520492" y="4402586"/>
                </a:lnTo>
                <a:lnTo>
                  <a:pt x="24520492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862888">
            <a:off x="11744058" y="-3745921"/>
            <a:ext cx="5429187" cy="15382828"/>
            <a:chOff x="0" y="0"/>
            <a:chExt cx="1429909" cy="40514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9909" cy="4051444"/>
            </a:xfrm>
            <a:custGeom>
              <a:avLst/>
              <a:gdLst/>
              <a:ahLst/>
              <a:cxnLst/>
              <a:rect l="l" t="t" r="r" b="b"/>
              <a:pathLst>
                <a:path w="1429909" h="4051444">
                  <a:moveTo>
                    <a:pt x="0" y="0"/>
                  </a:moveTo>
                  <a:lnTo>
                    <a:pt x="1429909" y="0"/>
                  </a:lnTo>
                  <a:lnTo>
                    <a:pt x="1429909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429909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6270710" flipV="1">
            <a:off x="8940246" y="4649456"/>
            <a:ext cx="13353097" cy="404258"/>
          </a:xfrm>
          <a:custGeom>
            <a:avLst/>
            <a:gdLst/>
            <a:ahLst/>
            <a:cxnLst/>
            <a:rect l="l" t="t" r="r" b="b"/>
            <a:pathLst>
              <a:path w="13353097" h="404258">
                <a:moveTo>
                  <a:pt x="0" y="404258"/>
                </a:moveTo>
                <a:lnTo>
                  <a:pt x="13353096" y="404258"/>
                </a:lnTo>
                <a:lnTo>
                  <a:pt x="13353096" y="0"/>
                </a:lnTo>
                <a:lnTo>
                  <a:pt x="0" y="0"/>
                </a:lnTo>
                <a:lnTo>
                  <a:pt x="0" y="404258"/>
                </a:lnTo>
                <a:close/>
              </a:path>
            </a:pathLst>
          </a:custGeom>
          <a:blipFill>
            <a:blip r:embed="rId4"/>
            <a:stretch>
              <a:fillRect t="-1843398"/>
            </a:stretch>
          </a:blipFill>
        </p:spPr>
      </p:sp>
      <p:grpSp>
        <p:nvGrpSpPr>
          <p:cNvPr id="7" name="Group 7"/>
          <p:cNvGrpSpPr/>
          <p:nvPr/>
        </p:nvGrpSpPr>
        <p:grpSpPr>
          <a:xfrm rot="-862888">
            <a:off x="15573406" y="-3745921"/>
            <a:ext cx="5429187" cy="15382828"/>
            <a:chOff x="0" y="0"/>
            <a:chExt cx="1429909" cy="40514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29909" cy="4051444"/>
            </a:xfrm>
            <a:custGeom>
              <a:avLst/>
              <a:gdLst/>
              <a:ahLst/>
              <a:cxnLst/>
              <a:rect l="l" t="t" r="r" b="b"/>
              <a:pathLst>
                <a:path w="1429909" h="4051444">
                  <a:moveTo>
                    <a:pt x="0" y="0"/>
                  </a:moveTo>
                  <a:lnTo>
                    <a:pt x="1429909" y="0"/>
                  </a:lnTo>
                  <a:lnTo>
                    <a:pt x="1429909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39515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429909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92143" y="1476884"/>
            <a:ext cx="6044346" cy="7333233"/>
            <a:chOff x="0" y="0"/>
            <a:chExt cx="5188077" cy="6294374"/>
          </a:xfrm>
        </p:grpSpPr>
        <p:sp>
          <p:nvSpPr>
            <p:cNvPr id="11" name="Freeform 11"/>
            <p:cNvSpPr/>
            <p:nvPr/>
          </p:nvSpPr>
          <p:spPr>
            <a:xfrm>
              <a:off x="40" y="0"/>
              <a:ext cx="5188037" cy="6294418"/>
            </a:xfrm>
            <a:custGeom>
              <a:avLst/>
              <a:gdLst/>
              <a:ahLst/>
              <a:cxnLst/>
              <a:rect l="l" t="t" r="r" b="b"/>
              <a:pathLst>
                <a:path w="5188037" h="6294418">
                  <a:moveTo>
                    <a:pt x="4895937" y="0"/>
                  </a:moveTo>
                  <a:cubicBezTo>
                    <a:pt x="5056592" y="0"/>
                    <a:pt x="5188037" y="131445"/>
                    <a:pt x="5188037" y="292100"/>
                  </a:cubicBezTo>
                  <a:lnTo>
                    <a:pt x="5188037" y="6057900"/>
                  </a:lnTo>
                  <a:cubicBezTo>
                    <a:pt x="5188037" y="6218555"/>
                    <a:pt x="5059640" y="6322060"/>
                    <a:pt x="4902668" y="6287897"/>
                  </a:cubicBezTo>
                  <a:lnTo>
                    <a:pt x="1565743" y="5561457"/>
                  </a:lnTo>
                  <a:cubicBezTo>
                    <a:pt x="1408771" y="5527294"/>
                    <a:pt x="1249132" y="5371592"/>
                    <a:pt x="1211159" y="5215509"/>
                  </a:cubicBezTo>
                  <a:lnTo>
                    <a:pt x="8088" y="283718"/>
                  </a:lnTo>
                  <a:cubicBezTo>
                    <a:pt x="-30012" y="127762"/>
                    <a:pt x="70191" y="0"/>
                    <a:pt x="230846" y="0"/>
                  </a:cubicBezTo>
                  <a:lnTo>
                    <a:pt x="4895937" y="0"/>
                  </a:lnTo>
                  <a:close/>
                </a:path>
              </a:pathLst>
            </a:custGeom>
            <a:blipFill>
              <a:blip r:embed="rId5"/>
              <a:stretch>
                <a:fillRect l="-61135" t="-11067" r="-40994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2" name="Freeform 12"/>
          <p:cNvSpPr/>
          <p:nvPr/>
        </p:nvSpPr>
        <p:spPr>
          <a:xfrm>
            <a:off x="16043097" y="594873"/>
            <a:ext cx="1764021" cy="1764021"/>
          </a:xfrm>
          <a:custGeom>
            <a:avLst/>
            <a:gdLst/>
            <a:ahLst/>
            <a:cxnLst/>
            <a:rect l="l" t="t" r="r" b="b"/>
            <a:pathLst>
              <a:path w="1764021" h="1764021">
                <a:moveTo>
                  <a:pt x="0" y="0"/>
                </a:moveTo>
                <a:lnTo>
                  <a:pt x="1764021" y="0"/>
                </a:lnTo>
                <a:lnTo>
                  <a:pt x="1764021" y="1764021"/>
                </a:lnTo>
                <a:lnTo>
                  <a:pt x="0" y="1764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4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734784" y="7997142"/>
            <a:ext cx="1014510" cy="1005922"/>
          </a:xfrm>
          <a:custGeom>
            <a:avLst/>
            <a:gdLst/>
            <a:ahLst/>
            <a:cxnLst/>
            <a:rect l="l" t="t" r="r" b="b"/>
            <a:pathLst>
              <a:path w="1014510" h="1005922">
                <a:moveTo>
                  <a:pt x="0" y="0"/>
                </a:moveTo>
                <a:lnTo>
                  <a:pt x="1014509" y="0"/>
                </a:lnTo>
                <a:lnTo>
                  <a:pt x="1014509" y="1005921"/>
                </a:lnTo>
                <a:lnTo>
                  <a:pt x="0" y="10059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t="-106388" r="-103152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-852149">
            <a:off x="10825427" y="-2621844"/>
            <a:ext cx="887655" cy="8696949"/>
            <a:chOff x="0" y="0"/>
            <a:chExt cx="233786" cy="22905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3786" cy="2290554"/>
            </a:xfrm>
            <a:custGeom>
              <a:avLst/>
              <a:gdLst/>
              <a:ahLst/>
              <a:cxnLst/>
              <a:rect l="l" t="t" r="r" b="b"/>
              <a:pathLst>
                <a:path w="233786" h="2290554">
                  <a:moveTo>
                    <a:pt x="0" y="0"/>
                  </a:moveTo>
                  <a:lnTo>
                    <a:pt x="233786" y="0"/>
                  </a:lnTo>
                  <a:lnTo>
                    <a:pt x="233786" y="2290554"/>
                  </a:lnTo>
                  <a:lnTo>
                    <a:pt x="0" y="2290554"/>
                  </a:lnTo>
                  <a:close/>
                </a:path>
              </a:pathLst>
            </a:custGeom>
            <a:gradFill rotWithShape="1">
              <a:gsLst>
                <a:gs pos="0">
                  <a:srgbClr val="20989B">
                    <a:alpha val="100000"/>
                  </a:srgbClr>
                </a:gs>
                <a:gs pos="50000">
                  <a:srgbClr val="C3FEFF">
                    <a:alpha val="50500"/>
                  </a:srgbClr>
                </a:gs>
                <a:gs pos="100000">
                  <a:srgbClr val="F9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33786" cy="2347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852149">
            <a:off x="12777214" y="7288478"/>
            <a:ext cx="887655" cy="3836978"/>
            <a:chOff x="0" y="0"/>
            <a:chExt cx="233786" cy="101056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3786" cy="1010562"/>
            </a:xfrm>
            <a:custGeom>
              <a:avLst/>
              <a:gdLst/>
              <a:ahLst/>
              <a:cxnLst/>
              <a:rect l="l" t="t" r="r" b="b"/>
              <a:pathLst>
                <a:path w="233786" h="1010562">
                  <a:moveTo>
                    <a:pt x="0" y="0"/>
                  </a:moveTo>
                  <a:lnTo>
                    <a:pt x="233786" y="0"/>
                  </a:lnTo>
                  <a:lnTo>
                    <a:pt x="233786" y="1010562"/>
                  </a:lnTo>
                  <a:lnTo>
                    <a:pt x="0" y="1010562"/>
                  </a:lnTo>
                  <a:close/>
                </a:path>
              </a:pathLst>
            </a:custGeom>
            <a:gradFill rotWithShape="1">
              <a:gsLst>
                <a:gs pos="0">
                  <a:srgbClr val="F9FFFF">
                    <a:alpha val="0"/>
                  </a:srgbClr>
                </a:gs>
                <a:gs pos="50000">
                  <a:srgbClr val="C3FEFF">
                    <a:alpha val="50500"/>
                  </a:srgbClr>
                </a:gs>
                <a:gs pos="100000">
                  <a:srgbClr val="2098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33786" cy="1067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733228" y="6441763"/>
            <a:ext cx="9542312" cy="825303"/>
            <a:chOff x="0" y="0"/>
            <a:chExt cx="4698873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698873" cy="406400"/>
            </a:xfrm>
            <a:custGeom>
              <a:avLst/>
              <a:gdLst/>
              <a:ahLst/>
              <a:cxnLst/>
              <a:rect l="l" t="t" r="r" b="b"/>
              <a:pathLst>
                <a:path w="4698873" h="406400">
                  <a:moveTo>
                    <a:pt x="4495673" y="0"/>
                  </a:moveTo>
                  <a:cubicBezTo>
                    <a:pt x="4607897" y="0"/>
                    <a:pt x="4698873" y="90976"/>
                    <a:pt x="4698873" y="203200"/>
                  </a:cubicBezTo>
                  <a:cubicBezTo>
                    <a:pt x="4698873" y="315424"/>
                    <a:pt x="4607897" y="406400"/>
                    <a:pt x="449567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4698873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38200" y="981373"/>
            <a:ext cx="6196905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74"/>
              </a:lnSpc>
            </a:pPr>
            <a:r>
              <a:rPr lang="en-US" sz="7500" b="1" spc="-315" smtClean="0">
                <a:solidFill>
                  <a:srgbClr val="39515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Introduction</a:t>
            </a:r>
            <a:endParaRPr lang="en-US" sz="7500" b="1" spc="-315">
              <a:solidFill>
                <a:srgbClr val="39515A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28700" y="6531835"/>
            <a:ext cx="5466797" cy="62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999" b="1" spc="-167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Purpose of the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7195" y="2124723"/>
            <a:ext cx="10383361" cy="1420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smtClean="0"/>
              <a:t>Bộ dữ liệu về </a:t>
            </a:r>
            <a:r>
              <a:rPr lang="vi-VN" sz="2000"/>
              <a:t>Fuzzy </a:t>
            </a:r>
            <a:r>
              <a:rPr lang="vi-VN" sz="2000" smtClean="0"/>
              <a:t>Factory</a:t>
            </a:r>
            <a:r>
              <a:rPr lang="en-US" sz="2000" smtClean="0"/>
              <a:t> - </a:t>
            </a:r>
            <a:r>
              <a:rPr lang="vi-VN" sz="2000" smtClean="0"/>
              <a:t>một </a:t>
            </a:r>
            <a:r>
              <a:rPr lang="vi-VN" sz="2000"/>
              <a:t>cửa hàng trực tuyến chuyên kinh doanh các sản phẩm gấu </a:t>
            </a:r>
            <a:r>
              <a:rPr lang="vi-VN" sz="2000" smtClean="0"/>
              <a:t>bông.</a:t>
            </a:r>
            <a:r>
              <a:rPr lang="en-US" sz="2000"/>
              <a:t> </a:t>
            </a:r>
            <a:r>
              <a:rPr lang="vi-VN" sz="2000" smtClean="0"/>
              <a:t>Bộ </a:t>
            </a:r>
            <a:r>
              <a:rPr lang="vi-VN" sz="2000"/>
              <a:t>dữ liệu mô phỏng toàn bộ hành trình khách hàng từ lúc truy cập website đến khi hoàn tất đơn hàng.</a:t>
            </a:r>
            <a:endParaRPr lang="en-US" sz="2000"/>
          </a:p>
        </p:txBody>
      </p:sp>
      <p:sp>
        <p:nvSpPr>
          <p:cNvPr id="32" name="TextBox 31"/>
          <p:cNvSpPr txBox="1"/>
          <p:nvPr/>
        </p:nvSpPr>
        <p:spPr>
          <a:xfrm>
            <a:off x="685800" y="4305300"/>
            <a:ext cx="7924800" cy="137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787194" y="3642246"/>
            <a:ext cx="10883291" cy="2343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Dữ liệu bao gồm 6 bảng có mối quan hệ chặt chẽ: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Website Sessions &amp; Pageviews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: Theo dõi nguồn traffic và hành vi người dùng trên website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Orders &amp; Order Items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: Thông tin đơn hàng, doanh thu và giá vốn (COGS)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Products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: Danh mục sản phẩm và giá bán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Refunds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: Dữ liệu hoàn tiền, phản ánh chất lượng sản phẩm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0" y="457200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0" y="473075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8200" y="7641251"/>
            <a:ext cx="10869099" cy="113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vi-VN" sz="2400"/>
              <a:t>Mục tiêu của dự án là đánh giá hiệu quả hoạt động của website thương mại điện tử và tìm ra cơ hội tối ưu.</a:t>
            </a:r>
            <a:endParaRPr lang="en-US" sz="2400"/>
          </a:p>
        </p:txBody>
      </p:sp>
      <p:sp>
        <p:nvSpPr>
          <p:cNvPr id="37" name="TextBox 36"/>
          <p:cNvSpPr txBox="1"/>
          <p:nvPr/>
        </p:nvSpPr>
        <p:spPr>
          <a:xfrm>
            <a:off x="847792" y="8803244"/>
            <a:ext cx="10827552" cy="113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smtClean="0">
                <a:solidFill>
                  <a:srgbClr val="C00000"/>
                </a:solidFill>
              </a:rPr>
              <a:t>Câu hỏi: Website có đang tăng trưởng tốt không? Nếu chưa thì vấn đề nằm ở đâu trong funnel và nên tối ưu theo kênh nào?</a:t>
            </a:r>
            <a:endParaRPr 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18592800" cy="1029209"/>
          </a:xfrm>
          <a:prstGeom prst="rect">
            <a:avLst/>
          </a:prstGeom>
          <a:solidFill>
            <a:srgbClr val="209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bg1"/>
                </a:solidFill>
                <a:latin typeface="+mj-lt"/>
              </a:rPr>
              <a:t>01. Tăng trưởng traffic đi kèm cải thiện conversion, ngoại trừ cú sụt giảm bất thường vào T1.2013</a:t>
            </a:r>
            <a:endParaRPr lang="en-US" altLang="en-US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Freeform 2"/>
          <p:cNvSpPr/>
          <p:nvPr/>
        </p:nvSpPr>
        <p:spPr>
          <a:xfrm flipH="1">
            <a:off x="-2341491" y="6051085"/>
            <a:ext cx="24520492" cy="4402586"/>
          </a:xfrm>
          <a:custGeom>
            <a:avLst/>
            <a:gdLst/>
            <a:ahLst/>
            <a:cxnLst/>
            <a:rect l="l" t="t" r="r" b="b"/>
            <a:pathLst>
              <a:path w="24520492" h="4402586">
                <a:moveTo>
                  <a:pt x="24520492" y="0"/>
                </a:moveTo>
                <a:lnTo>
                  <a:pt x="0" y="0"/>
                </a:lnTo>
                <a:lnTo>
                  <a:pt x="0" y="4402586"/>
                </a:lnTo>
                <a:lnTo>
                  <a:pt x="24520492" y="4402586"/>
                </a:lnTo>
                <a:lnTo>
                  <a:pt x="24520492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862888">
            <a:off x="16275076" y="-2424280"/>
            <a:ext cx="5429187" cy="15382828"/>
            <a:chOff x="0" y="0"/>
            <a:chExt cx="1429909" cy="40514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9909" cy="4051444"/>
            </a:xfrm>
            <a:custGeom>
              <a:avLst/>
              <a:gdLst/>
              <a:ahLst/>
              <a:cxnLst/>
              <a:rect l="l" t="t" r="r" b="b"/>
              <a:pathLst>
                <a:path w="1429909" h="4051444">
                  <a:moveTo>
                    <a:pt x="0" y="0"/>
                  </a:moveTo>
                  <a:lnTo>
                    <a:pt x="1429909" y="0"/>
                  </a:lnTo>
                  <a:lnTo>
                    <a:pt x="1429909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429909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6270710" flipV="1">
            <a:off x="11455062" y="4514251"/>
            <a:ext cx="13353097" cy="404258"/>
          </a:xfrm>
          <a:custGeom>
            <a:avLst/>
            <a:gdLst/>
            <a:ahLst/>
            <a:cxnLst/>
            <a:rect l="l" t="t" r="r" b="b"/>
            <a:pathLst>
              <a:path w="13353097" h="404258">
                <a:moveTo>
                  <a:pt x="0" y="404258"/>
                </a:moveTo>
                <a:lnTo>
                  <a:pt x="13353096" y="404258"/>
                </a:lnTo>
                <a:lnTo>
                  <a:pt x="13353096" y="0"/>
                </a:lnTo>
                <a:lnTo>
                  <a:pt x="0" y="0"/>
                </a:lnTo>
                <a:lnTo>
                  <a:pt x="0" y="404258"/>
                </a:lnTo>
                <a:close/>
              </a:path>
            </a:pathLst>
          </a:custGeom>
          <a:blipFill>
            <a:blip r:embed="rId4"/>
            <a:stretch>
              <a:fillRect t="-1843398"/>
            </a:stretch>
          </a:blipFill>
        </p:spPr>
      </p:sp>
      <p:grpSp>
        <p:nvGrpSpPr>
          <p:cNvPr id="7" name="Group 7"/>
          <p:cNvGrpSpPr/>
          <p:nvPr/>
        </p:nvGrpSpPr>
        <p:grpSpPr>
          <a:xfrm rot="-862888">
            <a:off x="18088222" y="-3881126"/>
            <a:ext cx="5429187" cy="15382828"/>
            <a:chOff x="0" y="0"/>
            <a:chExt cx="1429909" cy="40514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29909" cy="4051444"/>
            </a:xfrm>
            <a:custGeom>
              <a:avLst/>
              <a:gdLst/>
              <a:ahLst/>
              <a:cxnLst/>
              <a:rect l="l" t="t" r="r" b="b"/>
              <a:pathLst>
                <a:path w="1429909" h="4051444">
                  <a:moveTo>
                    <a:pt x="0" y="0"/>
                  </a:moveTo>
                  <a:lnTo>
                    <a:pt x="1429909" y="0"/>
                  </a:lnTo>
                  <a:lnTo>
                    <a:pt x="1429909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39515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429909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852149">
            <a:off x="15281382" y="-1944224"/>
            <a:ext cx="887655" cy="5727768"/>
            <a:chOff x="0" y="0"/>
            <a:chExt cx="233786" cy="15085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3786" cy="1508548"/>
            </a:xfrm>
            <a:custGeom>
              <a:avLst/>
              <a:gdLst/>
              <a:ahLst/>
              <a:cxnLst/>
              <a:rect l="l" t="t" r="r" b="b"/>
              <a:pathLst>
                <a:path w="233786" h="1508548">
                  <a:moveTo>
                    <a:pt x="0" y="0"/>
                  </a:moveTo>
                  <a:lnTo>
                    <a:pt x="233786" y="0"/>
                  </a:lnTo>
                  <a:lnTo>
                    <a:pt x="233786" y="1508548"/>
                  </a:lnTo>
                  <a:lnTo>
                    <a:pt x="0" y="1508548"/>
                  </a:lnTo>
                  <a:close/>
                </a:path>
              </a:pathLst>
            </a:custGeom>
            <a:gradFill rotWithShape="1">
              <a:gsLst>
                <a:gs pos="0">
                  <a:srgbClr val="20989B">
                    <a:alpha val="100000"/>
                  </a:srgbClr>
                </a:gs>
                <a:gs pos="50000">
                  <a:srgbClr val="C3FEFF">
                    <a:alpha val="50500"/>
                  </a:srgbClr>
                </a:gs>
                <a:gs pos="100000">
                  <a:srgbClr val="F9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33786" cy="1565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7450" y="1029209"/>
            <a:ext cx="10446932" cy="53988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26822" y="6347162"/>
            <a:ext cx="15913325" cy="128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vi-VN"/>
              <a:t>Biểu đồ cho thấy </a:t>
            </a:r>
            <a:r>
              <a:rPr lang="vi-VN" b="1"/>
              <a:t>Website Sessions tăng trưởng mạnh và ổn định theo thời gian</a:t>
            </a:r>
            <a:r>
              <a:rPr lang="vi-VN"/>
              <a:t> (từ ~1.8K lên gần 30K vào cuối 2014), phản ánh việc mở rộng traffic hiệu quả. Đồng thời, </a:t>
            </a:r>
            <a:r>
              <a:rPr lang="vi-VN" b="1"/>
              <a:t>Conversion Rate (CR) cũng cải thiện rõ rệt</a:t>
            </a:r>
            <a:r>
              <a:rPr lang="vi-VN"/>
              <a:t> (từ ~2.6–3% lên trên 8%), cho thấy </a:t>
            </a:r>
            <a:r>
              <a:rPr lang="vi-VN" b="1">
                <a:solidFill>
                  <a:srgbClr val="FF0000"/>
                </a:solidFill>
              </a:rPr>
              <a:t>không chỉ tăng về quy mô mà chất lượng traffic và trải nghiệm người dùng cũng được tối ưu.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6822" y="7734951"/>
            <a:ext cx="15905951" cy="128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vi-VN"/>
              <a:t>Dữ liệu cũng thể hiện yếu tố </a:t>
            </a:r>
            <a:r>
              <a:rPr lang="vi-VN" b="1"/>
              <a:t>mùa vụ rõ rệt</a:t>
            </a:r>
            <a:r>
              <a:rPr lang="vi-VN"/>
              <a:t>, khi traffic thường tăng mạnh vào cuối năm và giảm vào đầu năm. Đáng chú ý, </a:t>
            </a:r>
            <a:r>
              <a:rPr lang="vi-VN" b="1"/>
              <a:t>đầu năm 2013 ghi nhận sự sụt giảm Sessions nhưng CR lại tăng </a:t>
            </a:r>
            <a:r>
              <a:rPr lang="vi-VN" b="1" smtClean="0"/>
              <a:t>mạnh</a:t>
            </a:r>
            <a:r>
              <a:rPr lang="en-US" b="1" smtClean="0"/>
              <a:t> (Traffic giảm 1.6% nhưng tỷ lệ chuyển đổ tăng 1.07%)</a:t>
            </a:r>
            <a:r>
              <a:rPr lang="vi-VN" smtClean="0"/>
              <a:t>, </a:t>
            </a:r>
            <a:r>
              <a:rPr lang="vi-VN"/>
              <a:t>cho thấy khả </a:t>
            </a:r>
            <a:r>
              <a:rPr lang="vi-VN" b="1">
                <a:solidFill>
                  <a:srgbClr val="FF0000"/>
                </a:solidFill>
              </a:rPr>
              <a:t>năng đã có sự cải thiện chất lượng traffic hoặc điều chỉnh chiến lược marketing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6320" y="9122741"/>
            <a:ext cx="15792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vi-VN"/>
              <a:t>Riêng </a:t>
            </a:r>
            <a:r>
              <a:rPr lang="vi-VN" b="1"/>
              <a:t>tháng 03/2015 ghi nhận mức giảm mạnh về Sessions do dữ liệu chỉ tính đến ngày </a:t>
            </a:r>
            <a:r>
              <a:rPr lang="vi-VN" b="1" smtClean="0"/>
              <a:t>19/03</a:t>
            </a:r>
            <a:r>
              <a:rPr lang="en-US" b="1" smtClean="0"/>
              <a:t>/2015</a:t>
            </a:r>
            <a:r>
              <a:rPr lang="vi-VN" smtClean="0"/>
              <a:t>, </a:t>
            </a:r>
            <a:r>
              <a:rPr lang="vi-VN"/>
              <a:t>nên không phản ánh đầy đủ xu hướng thực tế</a:t>
            </a:r>
            <a:r>
              <a:rPr lang="vi-VN" smtClean="0"/>
              <a:t>.</a:t>
            </a:r>
            <a:r>
              <a:rPr lang="en-US" smtClean="0"/>
              <a:t> Nhưng nhìn chung </a:t>
            </a:r>
            <a:r>
              <a:rPr lang="vi-VN" b="1" smtClean="0">
                <a:solidFill>
                  <a:srgbClr val="FF0000"/>
                </a:solidFill>
              </a:rPr>
              <a:t>tăng </a:t>
            </a:r>
            <a:r>
              <a:rPr lang="vi-VN" b="1">
                <a:solidFill>
                  <a:srgbClr val="FF0000"/>
                </a:solidFill>
              </a:rPr>
              <a:t>trưởng của website mang tính bền vững khi cả traffic và hiệu quả chuyển đổi đều được cải thiện theo thời gian</a:t>
            </a:r>
            <a:r>
              <a:rPr lang="vi-VN"/>
              <a:t>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18592800" cy="1029209"/>
          </a:xfrm>
          <a:prstGeom prst="rect">
            <a:avLst/>
          </a:prstGeom>
          <a:solidFill>
            <a:srgbClr val="209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smtClean="0">
                <a:solidFill>
                  <a:schemeClr val="bg1"/>
                </a:solidFill>
                <a:latin typeface="+mj-lt"/>
              </a:rPr>
              <a:t>02. </a:t>
            </a:r>
            <a:r>
              <a:rPr lang="en-US" altLang="en-US" sz="2400" b="1">
                <a:solidFill>
                  <a:schemeClr val="bg1"/>
                </a:solidFill>
                <a:latin typeface="+mj-lt"/>
              </a:rPr>
              <a:t>Người dùng rời đi </a:t>
            </a:r>
            <a:r>
              <a:rPr lang="en-US" altLang="en-US" sz="2400" b="1" smtClean="0">
                <a:solidFill>
                  <a:schemeClr val="bg1"/>
                </a:solidFill>
                <a:latin typeface="+mj-lt"/>
              </a:rPr>
              <a:t>sớm từ bước đầu, </a:t>
            </a:r>
            <a:r>
              <a:rPr lang="en-US" altLang="en-US" sz="2400" b="1">
                <a:solidFill>
                  <a:schemeClr val="bg1"/>
                </a:solidFill>
                <a:latin typeface="+mj-lt"/>
              </a:rPr>
              <a:t>nhưng khi vào sâu funnel thì khả năng mua rất </a:t>
            </a:r>
            <a:r>
              <a:rPr lang="en-US" altLang="en-US" sz="2400" b="1" smtClean="0">
                <a:solidFill>
                  <a:schemeClr val="bg1"/>
                </a:solidFill>
                <a:latin typeface="+mj-lt"/>
              </a:rPr>
              <a:t>cao</a:t>
            </a:r>
            <a:endParaRPr lang="en-US" altLang="en-US" sz="2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Freeform 2"/>
          <p:cNvSpPr/>
          <p:nvPr/>
        </p:nvSpPr>
        <p:spPr>
          <a:xfrm flipH="1">
            <a:off x="-2286000" y="6110716"/>
            <a:ext cx="24520492" cy="4402586"/>
          </a:xfrm>
          <a:custGeom>
            <a:avLst/>
            <a:gdLst/>
            <a:ahLst/>
            <a:cxnLst/>
            <a:rect l="l" t="t" r="r" b="b"/>
            <a:pathLst>
              <a:path w="24520492" h="4402586">
                <a:moveTo>
                  <a:pt x="24520492" y="0"/>
                </a:moveTo>
                <a:lnTo>
                  <a:pt x="0" y="0"/>
                </a:lnTo>
                <a:lnTo>
                  <a:pt x="0" y="4402586"/>
                </a:lnTo>
                <a:lnTo>
                  <a:pt x="24520492" y="4402586"/>
                </a:lnTo>
                <a:lnTo>
                  <a:pt x="24520492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257300"/>
            <a:ext cx="10613598" cy="46253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28800" y="6797312"/>
            <a:ext cx="155448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mtClean="0"/>
              <a:t>Các</a:t>
            </a:r>
            <a:r>
              <a:rPr lang="vi-VN" smtClean="0"/>
              <a:t> </a:t>
            </a:r>
            <a:r>
              <a:rPr lang="vi-VN"/>
              <a:t>bước tiếp theo, tỷ lệ chuyển đổi cải thiện dần với </a:t>
            </a:r>
            <a:r>
              <a:rPr lang="vi-VN" b="1"/>
              <a:t>Product → Cart (~45.17%)</a:t>
            </a:r>
            <a:r>
              <a:rPr lang="vi-VN"/>
              <a:t>, </a:t>
            </a:r>
            <a:r>
              <a:rPr lang="vi-VN" b="1"/>
              <a:t>Cart → Billing (~54.83%)</a:t>
            </a:r>
            <a:r>
              <a:rPr lang="vi-VN"/>
              <a:t> và </a:t>
            </a:r>
            <a:r>
              <a:rPr lang="vi-VN" b="1"/>
              <a:t>Billing → Order (~62.07%)</a:t>
            </a:r>
            <a:r>
              <a:rPr lang="vi-VN"/>
              <a:t>, cho thấy những khách hàng đã vào sâu trong hành trình có xu hướng hoàn tất mua hàng cao hơn</a:t>
            </a:r>
            <a:r>
              <a:rPr lang="vi-VN" smtClean="0"/>
              <a:t>.</a:t>
            </a:r>
            <a:r>
              <a:rPr lang="en-US" smtClean="0"/>
              <a:t> </a:t>
            </a:r>
            <a:r>
              <a:rPr lang="vi-VN" smtClean="0"/>
              <a:t> </a:t>
            </a:r>
            <a:r>
              <a:rPr lang="vi-VN"/>
              <a:t>Điều này cho thấy vấn đề chính không nằm ở khâu thanh toán mà ở </a:t>
            </a:r>
            <a:r>
              <a:rPr lang="vi-VN" b="1"/>
              <a:t>giai đoạn đầu của trải nghiệm (landing page và điều hướng đến sản phẩm)</a:t>
            </a:r>
            <a:r>
              <a:rPr lang="vi-VN"/>
              <a:t>. Do đó, việc </a:t>
            </a:r>
            <a:r>
              <a:rPr lang="vi-VN" sz="2000" b="1">
                <a:solidFill>
                  <a:srgbClr val="C00000"/>
                </a:solidFill>
                <a:latin typeface="+mj-lt"/>
              </a:rPr>
              <a:t>tối ưu nội dung landing page, cải thiện UX/UI và điều hướng người dùng đến trang sản phẩm </a:t>
            </a:r>
            <a:r>
              <a:rPr lang="vi-VN"/>
              <a:t>sẽ là </a:t>
            </a:r>
            <a:r>
              <a:rPr lang="en-US" smtClean="0"/>
              <a:t>bước đi</a:t>
            </a:r>
            <a:r>
              <a:rPr lang="vi-VN" smtClean="0"/>
              <a:t> </a:t>
            </a:r>
            <a:r>
              <a:rPr lang="vi-VN"/>
              <a:t>quan trọng để nâng cao hiệu quả chuyển đổi tổng thể.</a:t>
            </a:r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13106400" y="2472035"/>
            <a:ext cx="4648200" cy="3579050"/>
          </a:xfrm>
          <a:prstGeom prst="roundRect">
            <a:avLst/>
          </a:prstGeom>
          <a:solidFill>
            <a:srgbClr val="4DB0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Phân tích chuyển đổi cho thấy</a:t>
            </a:r>
            <a:r>
              <a:rPr lang="en-US" b="1">
                <a:solidFill>
                  <a:schemeClr val="tx1"/>
                </a:solidFill>
              </a:rPr>
              <a:t> tỷ lệ chuyển đổi giảm mạnh từ bước đầu</a:t>
            </a:r>
            <a:r>
              <a:rPr lang="en-US">
                <a:solidFill>
                  <a:schemeClr val="tx1"/>
                </a:solidFill>
              </a:rPr>
              <a:t>, với session </a:t>
            </a:r>
            <a:r>
              <a:rPr lang="en-US">
                <a:solidFill>
                  <a:schemeClr val="tx1"/>
                </a:solidFill>
                <a:sym typeface="Wingdings" panose="05000000000000000000" pitchFamily="2" charset="2"/>
              </a:rPr>
              <a:t> Product chỉ đạt </a:t>
            </a:r>
            <a:r>
              <a:rPr lang="en-US" sz="2200" b="1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44.45%, </a:t>
            </a:r>
            <a:r>
              <a:rPr lang="en-US">
                <a:solidFill>
                  <a:schemeClr val="tx1"/>
                </a:solidFill>
                <a:sym typeface="Wingdings" panose="05000000000000000000" pitchFamily="2" charset="2"/>
              </a:rPr>
              <a:t>nghĩa là </a:t>
            </a:r>
            <a:r>
              <a:rPr lang="en-US" sz="2000" b="1">
                <a:solidFill>
                  <a:srgbClr val="C00000"/>
                </a:solidFill>
                <a:sym typeface="Wingdings" panose="05000000000000000000" pitchFamily="2" charset="2"/>
              </a:rPr>
              <a:t>hơn một nửa users rời đi trước khi xem sản phẩm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>
                <a:solidFill>
                  <a:schemeClr val="tx1"/>
                </a:solidFill>
                <a:sym typeface="Wingdings" panose="05000000000000000000" pitchFamily="2" charset="2"/>
              </a:rPr>
              <a:t>– Đây là điểm nghẽn lớn nhất của toàn bộ funnel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Freeform 15"/>
          <p:cNvSpPr/>
          <p:nvPr/>
        </p:nvSpPr>
        <p:spPr>
          <a:xfrm>
            <a:off x="11527998" y="4381500"/>
            <a:ext cx="1578402" cy="817847"/>
          </a:xfrm>
          <a:custGeom>
            <a:avLst/>
            <a:gdLst/>
            <a:ahLst/>
            <a:cxnLst/>
            <a:rect l="l" t="t" r="r" b="b"/>
            <a:pathLst>
              <a:path w="7315200" h="3363534">
                <a:moveTo>
                  <a:pt x="0" y="0"/>
                </a:moveTo>
                <a:lnTo>
                  <a:pt x="7315200" y="0"/>
                </a:lnTo>
                <a:lnTo>
                  <a:pt x="7315200" y="3363534"/>
                </a:lnTo>
                <a:lnTo>
                  <a:pt x="0" y="3363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"/>
          <p:cNvGrpSpPr/>
          <p:nvPr/>
        </p:nvGrpSpPr>
        <p:grpSpPr>
          <a:xfrm rot="-1168322">
            <a:off x="-6312991" y="-716999"/>
            <a:ext cx="7434779" cy="15382828"/>
            <a:chOff x="0" y="0"/>
            <a:chExt cx="1958131" cy="4051444"/>
          </a:xfrm>
        </p:grpSpPr>
        <p:sp>
          <p:nvSpPr>
            <p:cNvPr id="36" name="Freeform 4"/>
            <p:cNvSpPr/>
            <p:nvPr/>
          </p:nvSpPr>
          <p:spPr>
            <a:xfrm>
              <a:off x="0" y="0"/>
              <a:ext cx="1958131" cy="4051444"/>
            </a:xfrm>
            <a:custGeom>
              <a:avLst/>
              <a:gdLst/>
              <a:ahLst/>
              <a:cxnLst/>
              <a:rect l="l" t="t" r="r" b="b"/>
              <a:pathLst>
                <a:path w="1958131" h="4051444">
                  <a:moveTo>
                    <a:pt x="0" y="0"/>
                  </a:moveTo>
                  <a:lnTo>
                    <a:pt x="1958131" y="0"/>
                  </a:lnTo>
                  <a:lnTo>
                    <a:pt x="1958131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37" name="TextBox 5"/>
            <p:cNvSpPr txBox="1"/>
            <p:nvPr/>
          </p:nvSpPr>
          <p:spPr>
            <a:xfrm>
              <a:off x="0" y="-57150"/>
              <a:ext cx="1958131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7"/>
          <p:cNvGrpSpPr/>
          <p:nvPr/>
        </p:nvGrpSpPr>
        <p:grpSpPr>
          <a:xfrm rot="-1168322">
            <a:off x="-8872201" y="-716999"/>
            <a:ext cx="7434779" cy="15382828"/>
            <a:chOff x="0" y="0"/>
            <a:chExt cx="1958131" cy="4051444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1958131" cy="4051444"/>
            </a:xfrm>
            <a:custGeom>
              <a:avLst/>
              <a:gdLst/>
              <a:ahLst/>
              <a:cxnLst/>
              <a:rect l="l" t="t" r="r" b="b"/>
              <a:pathLst>
                <a:path w="1958131" h="4051444">
                  <a:moveTo>
                    <a:pt x="0" y="0"/>
                  </a:moveTo>
                  <a:lnTo>
                    <a:pt x="1958131" y="0"/>
                  </a:lnTo>
                  <a:lnTo>
                    <a:pt x="1958131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39515A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0" y="-57150"/>
              <a:ext cx="1958131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Freeform 21"/>
          <p:cNvSpPr/>
          <p:nvPr/>
        </p:nvSpPr>
        <p:spPr>
          <a:xfrm>
            <a:off x="-860878" y="8939274"/>
            <a:ext cx="1442442" cy="1442442"/>
          </a:xfrm>
          <a:custGeom>
            <a:avLst/>
            <a:gdLst/>
            <a:ahLst/>
            <a:cxnLst/>
            <a:rect l="l" t="t" r="r" b="b"/>
            <a:pathLst>
              <a:path w="1442442" h="1442442">
                <a:moveTo>
                  <a:pt x="0" y="0"/>
                </a:moveTo>
                <a:lnTo>
                  <a:pt x="1442442" y="0"/>
                </a:lnTo>
                <a:lnTo>
                  <a:pt x="1442442" y="1442442"/>
                </a:lnTo>
                <a:lnTo>
                  <a:pt x="0" y="14424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4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9574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18592800" cy="1029209"/>
          </a:xfrm>
          <a:prstGeom prst="rect">
            <a:avLst/>
          </a:prstGeom>
          <a:solidFill>
            <a:srgbClr val="209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smtClean="0">
                <a:solidFill>
                  <a:schemeClr val="bg1"/>
                </a:solidFill>
                <a:latin typeface="+mj-lt"/>
              </a:rPr>
              <a:t>04. Traffic đang đổ vào sai lading page, dẫn đến mất cơ hội tối đa hóa chuyển đổi</a:t>
            </a:r>
            <a:endParaRPr lang="en-US" altLang="en-US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Freeform 2"/>
          <p:cNvSpPr/>
          <p:nvPr/>
        </p:nvSpPr>
        <p:spPr>
          <a:xfrm flipH="1">
            <a:off x="-2341491" y="6051085"/>
            <a:ext cx="24520492" cy="4402586"/>
          </a:xfrm>
          <a:custGeom>
            <a:avLst/>
            <a:gdLst/>
            <a:ahLst/>
            <a:cxnLst/>
            <a:rect l="l" t="t" r="r" b="b"/>
            <a:pathLst>
              <a:path w="24520492" h="4402586">
                <a:moveTo>
                  <a:pt x="24520492" y="0"/>
                </a:moveTo>
                <a:lnTo>
                  <a:pt x="0" y="0"/>
                </a:lnTo>
                <a:lnTo>
                  <a:pt x="0" y="4402586"/>
                </a:lnTo>
                <a:lnTo>
                  <a:pt x="24520492" y="4402586"/>
                </a:lnTo>
                <a:lnTo>
                  <a:pt x="24520492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03061"/>
            <a:ext cx="9487508" cy="66048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210800" y="5102319"/>
            <a:ext cx="7391400" cy="2202855"/>
          </a:xfrm>
          <a:prstGeom prst="roundRect">
            <a:avLst/>
          </a:prstGeom>
          <a:noFill/>
          <a:ln>
            <a:solidFill>
              <a:srgbClr val="20989B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0329148" y="1800903"/>
            <a:ext cx="685800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mtClean="0"/>
              <a:t>Traffic đang </a:t>
            </a:r>
            <a:r>
              <a:rPr lang="en-US" sz="2000" b="1" smtClean="0"/>
              <a:t>tập trung chủ yếu </a:t>
            </a:r>
            <a:r>
              <a:rPr lang="en-US" smtClean="0"/>
              <a:t>vào các lading page như </a:t>
            </a:r>
            <a:r>
              <a:rPr lang="en-US" sz="2000" b="1" smtClean="0"/>
              <a:t>/home (~138k sessions) và /lader-2 (~131k sessions) </a:t>
            </a:r>
            <a:r>
              <a:rPr lang="en-US" b="1" smtClean="0">
                <a:solidFill>
                  <a:srgbClr val="C00000"/>
                </a:solidFill>
              </a:rPr>
              <a:t>nhưng tỷ lệ chuyển đổi chưa cao</a:t>
            </a:r>
            <a:r>
              <a:rPr lang="en-US" smtClean="0"/>
              <a:t>, chỉ xấp xỉ khoảng 46%-47%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29148" y="3283680"/>
            <a:ext cx="685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b="1" smtClean="0">
                <a:solidFill>
                  <a:srgbClr val="C00000"/>
                </a:solidFill>
              </a:rPr>
              <a:t>/lader-5 có tỷ lệ chuyển đổi cao nhất (~ 56%) </a:t>
            </a:r>
            <a:r>
              <a:rPr lang="en-US" smtClean="0"/>
              <a:t>tuy nhiên lại nhận được </a:t>
            </a:r>
            <a:r>
              <a:rPr lang="en-US" sz="2000" b="1" smtClean="0">
                <a:solidFill>
                  <a:srgbClr val="C00000"/>
                </a:solidFill>
              </a:rPr>
              <a:t>lượng traffic thấp hơn đáng kể</a:t>
            </a:r>
            <a:r>
              <a:rPr lang="en-US" smtClean="0"/>
              <a:t>, chỉ 68K session thấp hơn /home và /lader-2 khoảng 50%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29148" y="5102320"/>
            <a:ext cx="704445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/>
              <a:t>có sự </a:t>
            </a:r>
            <a:r>
              <a:rPr lang="en-US" b="1" smtClean="0"/>
              <a:t>chênh lệch </a:t>
            </a:r>
            <a:r>
              <a:rPr lang="vi-VN" b="1" smtClean="0"/>
              <a:t>rõ </a:t>
            </a:r>
            <a:r>
              <a:rPr lang="vi-VN" b="1"/>
              <a:t>ràng giữa </a:t>
            </a:r>
            <a:r>
              <a:rPr lang="en-US" b="1" smtClean="0"/>
              <a:t>lading page có</a:t>
            </a:r>
            <a:r>
              <a:rPr lang="vi-VN" b="1" smtClean="0"/>
              <a:t> </a:t>
            </a:r>
            <a:r>
              <a:rPr lang="vi-VN" b="1"/>
              <a:t>traffic được phân bổ và </a:t>
            </a:r>
            <a:r>
              <a:rPr lang="en-US" b="1" smtClean="0"/>
              <a:t>lading page</a:t>
            </a:r>
            <a:r>
              <a:rPr lang="vi-VN" b="1" smtClean="0"/>
              <a:t> </a:t>
            </a:r>
            <a:r>
              <a:rPr lang="vi-VN" b="1"/>
              <a:t>tạo ra hiệu quả chuyển đổi tốt nhất</a:t>
            </a:r>
            <a:r>
              <a:rPr lang="vi-VN"/>
              <a:t>, khiến </a:t>
            </a:r>
            <a:r>
              <a:rPr lang="vi-VN" b="1">
                <a:solidFill>
                  <a:srgbClr val="C00000"/>
                </a:solidFill>
              </a:rPr>
              <a:t>tăng trưởng hiện tại phụ thuộc nhiều vào volume thay vì hiệu suất</a:t>
            </a:r>
            <a:r>
              <a:rPr lang="vi-VN"/>
              <a:t>. Hệ quả là doanh nghiệp đang bỏ lỡ cơ hội tối đa hóa chuyển đổi từ các landing page hoạt động tốt</a:t>
            </a:r>
            <a:endParaRPr lang="en-US"/>
          </a:p>
        </p:txBody>
      </p:sp>
      <p:sp>
        <p:nvSpPr>
          <p:cNvPr id="33" name="Freeform 15"/>
          <p:cNvSpPr/>
          <p:nvPr/>
        </p:nvSpPr>
        <p:spPr>
          <a:xfrm rot="556551">
            <a:off x="8362954" y="5778308"/>
            <a:ext cx="1578402" cy="817847"/>
          </a:xfrm>
          <a:custGeom>
            <a:avLst/>
            <a:gdLst/>
            <a:ahLst/>
            <a:cxnLst/>
            <a:rect l="l" t="t" r="r" b="b"/>
            <a:pathLst>
              <a:path w="7315200" h="3363534">
                <a:moveTo>
                  <a:pt x="0" y="0"/>
                </a:moveTo>
                <a:lnTo>
                  <a:pt x="7315200" y="0"/>
                </a:lnTo>
                <a:lnTo>
                  <a:pt x="7315200" y="3363534"/>
                </a:lnTo>
                <a:lnTo>
                  <a:pt x="0" y="3363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3"/>
          <p:cNvGrpSpPr/>
          <p:nvPr/>
        </p:nvGrpSpPr>
        <p:grpSpPr>
          <a:xfrm>
            <a:off x="304800" y="8247110"/>
            <a:ext cx="1828800" cy="609524"/>
            <a:chOff x="304800" y="8247110"/>
            <a:chExt cx="1828800" cy="609524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800" y="8247110"/>
              <a:ext cx="609524" cy="609524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914324" y="8321039"/>
              <a:ext cx="1219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smtClean="0">
                  <a:latin typeface="+mj-lt"/>
                </a:rPr>
                <a:t>Action</a:t>
              </a:r>
              <a:endParaRPr lang="en-US" sz="2400">
                <a:latin typeface="+mj-lt"/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326923" y="8937773"/>
            <a:ext cx="1181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mtClean="0"/>
              <a:t>Phân bổ lại traffic từ các trang có lưu lượng truy cập lớn sang </a:t>
            </a:r>
            <a:r>
              <a:rPr lang="en-US" b="1" smtClean="0"/>
              <a:t>/lader-5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6923" y="9388244"/>
            <a:ext cx="1590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mtClean="0"/>
              <a:t>C</a:t>
            </a:r>
            <a:r>
              <a:rPr lang="vi-VN" smtClean="0"/>
              <a:t>ác </a:t>
            </a:r>
            <a:r>
              <a:rPr lang="vi-VN"/>
              <a:t>trang có hiệu suất thấp như </a:t>
            </a:r>
            <a:r>
              <a:rPr lang="vi-VN" b="1"/>
              <a:t>/lander-1 và /lander-3</a:t>
            </a:r>
            <a:r>
              <a:rPr lang="vi-VN"/>
              <a:t> cần được tối ưu hoặc thay thế, trong khi </a:t>
            </a:r>
            <a:r>
              <a:rPr lang="vi-VN" b="1"/>
              <a:t>/lander-4</a:t>
            </a:r>
            <a:r>
              <a:rPr lang="vi-VN"/>
              <a:t> có thể không cần ưu tiên do đóng góp hạn chế.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2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18592800" cy="1029209"/>
          </a:xfrm>
          <a:prstGeom prst="rect">
            <a:avLst/>
          </a:prstGeom>
          <a:solidFill>
            <a:srgbClr val="209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smtClean="0">
                <a:solidFill>
                  <a:schemeClr val="bg1"/>
                </a:solidFill>
                <a:latin typeface="+mj-lt"/>
              </a:rPr>
              <a:t>05. Nguồn search mang lại số lượng lớn traffics và tỷ lệ chuyển đổi cao hơn các kênh social marketing </a:t>
            </a:r>
            <a:endParaRPr lang="en-US" altLang="en-US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Freeform 2"/>
          <p:cNvSpPr/>
          <p:nvPr/>
        </p:nvSpPr>
        <p:spPr>
          <a:xfrm flipH="1">
            <a:off x="-2341491" y="6051085"/>
            <a:ext cx="24520492" cy="4402586"/>
          </a:xfrm>
          <a:custGeom>
            <a:avLst/>
            <a:gdLst/>
            <a:ahLst/>
            <a:cxnLst/>
            <a:rect l="l" t="t" r="r" b="b"/>
            <a:pathLst>
              <a:path w="24520492" h="4402586">
                <a:moveTo>
                  <a:pt x="24520492" y="0"/>
                </a:moveTo>
                <a:lnTo>
                  <a:pt x="0" y="0"/>
                </a:lnTo>
                <a:lnTo>
                  <a:pt x="0" y="4402586"/>
                </a:lnTo>
                <a:lnTo>
                  <a:pt x="24520492" y="4402586"/>
                </a:lnTo>
                <a:lnTo>
                  <a:pt x="24520492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638300"/>
            <a:ext cx="9678776" cy="55387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3771900"/>
            <a:ext cx="388620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>
                <a:solidFill>
                  <a:srgbClr val="00B050"/>
                </a:solidFill>
              </a:rPr>
              <a:t>Các </a:t>
            </a:r>
            <a:r>
              <a:rPr lang="vi-VN" sz="2200" b="1" smtClean="0">
                <a:solidFill>
                  <a:srgbClr val="00B050"/>
                </a:solidFill>
                <a:latin typeface="+mj-lt"/>
              </a:rPr>
              <a:t>kênh search </a:t>
            </a:r>
            <a:r>
              <a:rPr lang="vi-VN" smtClean="0">
                <a:solidFill>
                  <a:srgbClr val="00B050"/>
                </a:solidFill>
              </a:rPr>
              <a:t>như </a:t>
            </a:r>
            <a:r>
              <a:rPr lang="vi-VN">
                <a:solidFill>
                  <a:srgbClr val="00B050"/>
                </a:solidFill>
              </a:rPr>
              <a:t>Google và Bing mang lại </a:t>
            </a:r>
            <a:r>
              <a:rPr lang="vi-VN" sz="2000">
                <a:solidFill>
                  <a:srgbClr val="00B050"/>
                </a:solidFill>
                <a:latin typeface="+mj-lt"/>
              </a:rPr>
              <a:t>tỷ lệ chuyển đổi cao </a:t>
            </a:r>
            <a:r>
              <a:rPr lang="vi-VN">
                <a:solidFill>
                  <a:srgbClr val="00B050"/>
                </a:solidFill>
              </a:rPr>
              <a:t>(6.6% – 8.8%), </a:t>
            </a:r>
            <a:r>
              <a:rPr lang="vi-VN" b="1">
                <a:solidFill>
                  <a:srgbClr val="00B050"/>
                </a:solidFill>
              </a:rPr>
              <a:t>đặc biệt là các chiến dịch brand</a:t>
            </a:r>
            <a:r>
              <a:rPr lang="vi-VN">
                <a:solidFill>
                  <a:srgbClr val="00B050"/>
                </a:solidFill>
              </a:rPr>
              <a:t>, cho thấy người dùng có ý định mua hàng rõ </a:t>
            </a:r>
            <a:r>
              <a:rPr lang="vi-VN" smtClean="0">
                <a:solidFill>
                  <a:srgbClr val="00B050"/>
                </a:solidFill>
              </a:rPr>
              <a:t>ràng</a:t>
            </a:r>
            <a:endParaRPr lang="en-US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945976" y="3924300"/>
            <a:ext cx="365622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>
                <a:solidFill>
                  <a:srgbClr val="C00000"/>
                </a:solidFill>
              </a:rPr>
              <a:t>các </a:t>
            </a:r>
            <a:r>
              <a:rPr lang="vi-VN" sz="2200" b="1">
                <a:solidFill>
                  <a:srgbClr val="C00000"/>
                </a:solidFill>
                <a:latin typeface="+mj-lt"/>
              </a:rPr>
              <a:t>kênh social media </a:t>
            </a:r>
            <a:r>
              <a:rPr lang="vi-VN">
                <a:solidFill>
                  <a:srgbClr val="C00000"/>
                </a:solidFill>
              </a:rPr>
              <a:t>có </a:t>
            </a:r>
            <a:r>
              <a:rPr lang="vi-VN" b="1">
                <a:solidFill>
                  <a:srgbClr val="C00000"/>
                </a:solidFill>
                <a:latin typeface="+mj-lt"/>
              </a:rPr>
              <a:t>hiệu quả thấp hơn đáng kể</a:t>
            </a:r>
            <a:r>
              <a:rPr lang="vi-VN">
                <a:solidFill>
                  <a:srgbClr val="C00000"/>
                </a:solidFill>
              </a:rPr>
              <a:t>, đặc biệt là chiến dịch “pilot” với tỷ lệ chuyển đổi chỉ 1.08%, cho thấy sự </a:t>
            </a:r>
            <a:r>
              <a:rPr lang="vi-VN" sz="2200">
                <a:solidFill>
                  <a:srgbClr val="C00000"/>
                </a:solidFill>
                <a:latin typeface="+mj-lt"/>
              </a:rPr>
              <a:t>không phù hợp </a:t>
            </a:r>
            <a:r>
              <a:rPr lang="vi-VN">
                <a:solidFill>
                  <a:srgbClr val="C00000"/>
                </a:solidFill>
              </a:rPr>
              <a:t>về targeting hoặc thông điệp marketing.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1400" y="7786178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/>
              <a:t>traffic không xác định nguồn (có thể là direct hoặc organic) cũng cho thấy hiệu suất tốt, nhấn mạnh </a:t>
            </a:r>
            <a:r>
              <a:rPr lang="en-US" b="1">
                <a:latin typeface="+mj-lt"/>
              </a:rPr>
              <a:t>vai trò của brand awareness</a:t>
            </a:r>
            <a:r>
              <a:rPr lang="en-US"/>
              <a:t>.</a:t>
            </a:r>
          </a:p>
        </p:txBody>
      </p:sp>
      <p:sp>
        <p:nvSpPr>
          <p:cNvPr id="21" name="Freeform 15"/>
          <p:cNvSpPr/>
          <p:nvPr/>
        </p:nvSpPr>
        <p:spPr>
          <a:xfrm rot="8458927">
            <a:off x="9681176" y="7190273"/>
            <a:ext cx="927626" cy="582719"/>
          </a:xfrm>
          <a:custGeom>
            <a:avLst/>
            <a:gdLst/>
            <a:ahLst/>
            <a:cxnLst/>
            <a:rect l="l" t="t" r="r" b="b"/>
            <a:pathLst>
              <a:path w="7315200" h="3363534">
                <a:moveTo>
                  <a:pt x="0" y="0"/>
                </a:moveTo>
                <a:lnTo>
                  <a:pt x="7315200" y="0"/>
                </a:lnTo>
                <a:lnTo>
                  <a:pt x="7315200" y="3363534"/>
                </a:lnTo>
                <a:lnTo>
                  <a:pt x="0" y="3363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93839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18592800" cy="1029209"/>
          </a:xfrm>
          <a:prstGeom prst="rect">
            <a:avLst/>
          </a:prstGeom>
          <a:solidFill>
            <a:srgbClr val="209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smtClean="0">
                <a:solidFill>
                  <a:schemeClr val="bg1"/>
                </a:solidFill>
                <a:latin typeface="+mj-lt"/>
              </a:rPr>
              <a:t>06. </a:t>
            </a:r>
            <a:r>
              <a:rPr lang="en-US" sz="2400">
                <a:latin typeface="+mj-lt"/>
              </a:rPr>
              <a:t>Doanh thu phụ thuộc lớn vào một sản phẩm </a:t>
            </a:r>
            <a:r>
              <a:rPr lang="en-US" sz="2400" smtClean="0">
                <a:latin typeface="+mj-lt"/>
              </a:rPr>
              <a:t>chính,các </a:t>
            </a:r>
            <a:r>
              <a:rPr lang="en-US" sz="2400">
                <a:latin typeface="+mj-lt"/>
              </a:rPr>
              <a:t>sản phẩm còn lại đóng góp hạn chế</a:t>
            </a:r>
            <a:endParaRPr lang="en-US" altLang="en-US" sz="2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Freeform 2"/>
          <p:cNvSpPr/>
          <p:nvPr/>
        </p:nvSpPr>
        <p:spPr>
          <a:xfrm flipH="1">
            <a:off x="-2341491" y="6051085"/>
            <a:ext cx="24520492" cy="4402586"/>
          </a:xfrm>
          <a:custGeom>
            <a:avLst/>
            <a:gdLst/>
            <a:ahLst/>
            <a:cxnLst/>
            <a:rect l="l" t="t" r="r" b="b"/>
            <a:pathLst>
              <a:path w="24520492" h="4402586">
                <a:moveTo>
                  <a:pt x="24520492" y="0"/>
                </a:moveTo>
                <a:lnTo>
                  <a:pt x="0" y="0"/>
                </a:lnTo>
                <a:lnTo>
                  <a:pt x="0" y="4402586"/>
                </a:lnTo>
                <a:lnTo>
                  <a:pt x="24520492" y="4402586"/>
                </a:lnTo>
                <a:lnTo>
                  <a:pt x="24520492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862888">
            <a:off x="16275076" y="-2424280"/>
            <a:ext cx="5429187" cy="15382828"/>
            <a:chOff x="0" y="0"/>
            <a:chExt cx="1429909" cy="40514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9909" cy="4051444"/>
            </a:xfrm>
            <a:custGeom>
              <a:avLst/>
              <a:gdLst/>
              <a:ahLst/>
              <a:cxnLst/>
              <a:rect l="l" t="t" r="r" b="b"/>
              <a:pathLst>
                <a:path w="1429909" h="4051444">
                  <a:moveTo>
                    <a:pt x="0" y="0"/>
                  </a:moveTo>
                  <a:lnTo>
                    <a:pt x="1429909" y="0"/>
                  </a:lnTo>
                  <a:lnTo>
                    <a:pt x="1429909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429909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6270710" flipV="1">
            <a:off x="11455062" y="4514251"/>
            <a:ext cx="13353097" cy="404258"/>
          </a:xfrm>
          <a:custGeom>
            <a:avLst/>
            <a:gdLst/>
            <a:ahLst/>
            <a:cxnLst/>
            <a:rect l="l" t="t" r="r" b="b"/>
            <a:pathLst>
              <a:path w="13353097" h="404258">
                <a:moveTo>
                  <a:pt x="0" y="404258"/>
                </a:moveTo>
                <a:lnTo>
                  <a:pt x="13353096" y="404258"/>
                </a:lnTo>
                <a:lnTo>
                  <a:pt x="13353096" y="0"/>
                </a:lnTo>
                <a:lnTo>
                  <a:pt x="0" y="0"/>
                </a:lnTo>
                <a:lnTo>
                  <a:pt x="0" y="404258"/>
                </a:lnTo>
                <a:close/>
              </a:path>
            </a:pathLst>
          </a:custGeom>
          <a:blipFill>
            <a:blip r:embed="rId4"/>
            <a:stretch>
              <a:fillRect t="-1843398"/>
            </a:stretch>
          </a:blipFill>
        </p:spPr>
      </p:sp>
      <p:grpSp>
        <p:nvGrpSpPr>
          <p:cNvPr id="7" name="Group 7"/>
          <p:cNvGrpSpPr/>
          <p:nvPr/>
        </p:nvGrpSpPr>
        <p:grpSpPr>
          <a:xfrm rot="-862888">
            <a:off x="18088222" y="-3881126"/>
            <a:ext cx="5429187" cy="15382828"/>
            <a:chOff x="0" y="0"/>
            <a:chExt cx="1429909" cy="40514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29909" cy="4051444"/>
            </a:xfrm>
            <a:custGeom>
              <a:avLst/>
              <a:gdLst/>
              <a:ahLst/>
              <a:cxnLst/>
              <a:rect l="l" t="t" r="r" b="b"/>
              <a:pathLst>
                <a:path w="1429909" h="4051444">
                  <a:moveTo>
                    <a:pt x="0" y="0"/>
                  </a:moveTo>
                  <a:lnTo>
                    <a:pt x="1429909" y="0"/>
                  </a:lnTo>
                  <a:lnTo>
                    <a:pt x="1429909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39515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429909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852149">
            <a:off x="15281382" y="-1944224"/>
            <a:ext cx="887655" cy="5727768"/>
            <a:chOff x="0" y="0"/>
            <a:chExt cx="233786" cy="15085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3786" cy="1508548"/>
            </a:xfrm>
            <a:custGeom>
              <a:avLst/>
              <a:gdLst/>
              <a:ahLst/>
              <a:cxnLst/>
              <a:rect l="l" t="t" r="r" b="b"/>
              <a:pathLst>
                <a:path w="233786" h="1508548">
                  <a:moveTo>
                    <a:pt x="0" y="0"/>
                  </a:moveTo>
                  <a:lnTo>
                    <a:pt x="233786" y="0"/>
                  </a:lnTo>
                  <a:lnTo>
                    <a:pt x="233786" y="1508548"/>
                  </a:lnTo>
                  <a:lnTo>
                    <a:pt x="0" y="1508548"/>
                  </a:lnTo>
                  <a:close/>
                </a:path>
              </a:pathLst>
            </a:custGeom>
            <a:gradFill rotWithShape="1">
              <a:gsLst>
                <a:gs pos="0">
                  <a:srgbClr val="20989B">
                    <a:alpha val="100000"/>
                  </a:srgbClr>
                </a:gs>
                <a:gs pos="50000">
                  <a:srgbClr val="C3FEFF">
                    <a:alpha val="50500"/>
                  </a:srgbClr>
                </a:gs>
                <a:gs pos="100000">
                  <a:srgbClr val="F9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33786" cy="1565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613" y="1226560"/>
            <a:ext cx="6866326" cy="353646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5995" y="1180841"/>
            <a:ext cx="5834328" cy="38642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6850" y="5192824"/>
            <a:ext cx="143256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mtClean="0"/>
              <a:t>Có thể thấy được </a:t>
            </a:r>
            <a:r>
              <a:rPr lang="vi-VN"/>
              <a:t> sự phụ thuộc đáng kể vào một sản phẩm chủ lực. Cụ thể</a:t>
            </a:r>
            <a:r>
              <a:rPr lang="vi-VN" b="1"/>
              <a:t>, “</a:t>
            </a:r>
            <a:r>
              <a:rPr lang="vi-VN" sz="2000" b="1">
                <a:solidFill>
                  <a:srgbClr val="C00000"/>
                </a:solidFill>
                <a:latin typeface="+mj-lt"/>
              </a:rPr>
              <a:t>The Original Mr. Fuzzy</a:t>
            </a:r>
            <a:r>
              <a:rPr lang="vi-VN" b="1"/>
              <a:t>” chiếm phần lớn </a:t>
            </a:r>
            <a:r>
              <a:rPr lang="vi-VN" b="1" smtClean="0"/>
              <a:t>doanh thu</a:t>
            </a:r>
            <a:r>
              <a:rPr lang="en-US" b="1" smtClean="0"/>
              <a:t> (~</a:t>
            </a:r>
            <a:r>
              <a:rPr lang="en-US" sz="2000" b="1" smtClean="0">
                <a:solidFill>
                  <a:srgbClr val="C00000"/>
                </a:solidFill>
                <a:latin typeface="+mj-lt"/>
              </a:rPr>
              <a:t>62.5% tổng doanh thu</a:t>
            </a:r>
            <a:r>
              <a:rPr lang="en-US" b="1" smtClean="0"/>
              <a:t>)</a:t>
            </a:r>
            <a:r>
              <a:rPr lang="vi-VN" smtClean="0"/>
              <a:t>, </a:t>
            </a:r>
            <a:r>
              <a:rPr lang="vi-VN"/>
              <a:t>đóng vai trò là sản </a:t>
            </a:r>
            <a:r>
              <a:rPr lang="vi-VN" smtClean="0"/>
              <a:t>phẩm</a:t>
            </a:r>
            <a:r>
              <a:rPr lang="en-US"/>
              <a:t> </a:t>
            </a:r>
            <a:r>
              <a:rPr lang="en-US" smtClean="0"/>
              <a:t>chính </a:t>
            </a:r>
            <a:r>
              <a:rPr lang="vi-VN" smtClean="0"/>
              <a:t>của </a:t>
            </a:r>
            <a:r>
              <a:rPr lang="vi-VN"/>
              <a:t>doanh nghiệp.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981766" y="6277905"/>
            <a:ext cx="14320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vi-VN" b="1"/>
              <a:t>“The Forever Love Bear” </a:t>
            </a:r>
            <a:r>
              <a:rPr lang="vi-VN"/>
              <a:t>có </a:t>
            </a:r>
            <a:r>
              <a:rPr lang="vi-VN" b="1"/>
              <a:t>giá trị đơn hàng trung bình cao </a:t>
            </a:r>
            <a:r>
              <a:rPr lang="vi-VN" b="1" smtClean="0"/>
              <a:t>nhất</a:t>
            </a:r>
            <a:r>
              <a:rPr lang="en-US" b="1" smtClean="0"/>
              <a:t> </a:t>
            </a:r>
            <a:r>
              <a:rPr lang="en-US" smtClean="0"/>
              <a:t>tuy nhiên </a:t>
            </a:r>
            <a:r>
              <a:rPr lang="en-US" b="1" smtClean="0"/>
              <a:t>doanh thu mang lại chưa cao</a:t>
            </a:r>
            <a:r>
              <a:rPr lang="en-US" smtClean="0"/>
              <a:t>, chứng </a:t>
            </a:r>
            <a:r>
              <a:rPr lang="en-US" b="1" smtClean="0">
                <a:solidFill>
                  <a:srgbClr val="C00000"/>
                </a:solidFill>
              </a:rPr>
              <a:t>tỏ tiềm năng sản phẩm chưa được khai thác triệt để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6849" y="7201235"/>
            <a:ext cx="14325601" cy="871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vi-VN"/>
              <a:t>Các sản phẩm còn lại như “The Birthday Sugar Panda” và “The Hudson River Mini Bear” đóng vai trò </a:t>
            </a:r>
            <a:r>
              <a:rPr lang="vi-VN" b="1"/>
              <a:t>bổ trợ, phục vụ các phân khúc giá thấp và trung bình.</a:t>
            </a:r>
            <a:endParaRPr lang="en-US" b="1"/>
          </a:p>
        </p:txBody>
      </p:sp>
      <p:sp>
        <p:nvSpPr>
          <p:cNvPr id="18" name="TextBox 17"/>
          <p:cNvSpPr txBox="1"/>
          <p:nvPr/>
        </p:nvSpPr>
        <p:spPr>
          <a:xfrm>
            <a:off x="990599" y="8496300"/>
            <a:ext cx="14935201" cy="958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/>
              <a:t>Doanh thu hiện tại phụ thuộc vào một sản phẩm chính, do đó </a:t>
            </a:r>
            <a:r>
              <a:rPr lang="vi-VN" sz="2000" b="1"/>
              <a:t>cần tối ưu chiến lược cho các sản phẩm còn lại </a:t>
            </a:r>
            <a:r>
              <a:rPr lang="vi-VN" sz="2000"/>
              <a:t>để </a:t>
            </a:r>
            <a:r>
              <a:rPr lang="vi-VN" sz="2000" b="1"/>
              <a:t>giảm rủi ro và mở rộng tăng trưởng.</a:t>
            </a:r>
            <a:endParaRPr lang="en-US" sz="2000" b="1"/>
          </a:p>
        </p:txBody>
      </p:sp>
      <p:sp>
        <p:nvSpPr>
          <p:cNvPr id="19" name="Rounded Rectangle 18"/>
          <p:cNvSpPr/>
          <p:nvPr/>
        </p:nvSpPr>
        <p:spPr>
          <a:xfrm>
            <a:off x="762000" y="8343900"/>
            <a:ext cx="15163800" cy="1371600"/>
          </a:xfrm>
          <a:prstGeom prst="roundRect">
            <a:avLst/>
          </a:prstGeom>
          <a:noFill/>
          <a:ln>
            <a:solidFill>
              <a:srgbClr val="20989B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0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18592800" cy="1029209"/>
          </a:xfrm>
          <a:prstGeom prst="rect">
            <a:avLst/>
          </a:prstGeom>
          <a:solidFill>
            <a:srgbClr val="209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smtClean="0">
                <a:solidFill>
                  <a:schemeClr val="bg1"/>
                </a:solidFill>
                <a:latin typeface="+mj-lt"/>
              </a:rPr>
              <a:t>07. Đánh đổi giữa tăng trưởng và chất lượng, sản phẩm bán chạy cũng là sản phẩm có tỷ lệ hoàn hàng cao</a:t>
            </a:r>
            <a:endParaRPr lang="en-US" altLang="en-US" sz="2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Freeform 2"/>
          <p:cNvSpPr/>
          <p:nvPr/>
        </p:nvSpPr>
        <p:spPr>
          <a:xfrm flipH="1">
            <a:off x="-2286000" y="6110716"/>
            <a:ext cx="24520492" cy="4402586"/>
          </a:xfrm>
          <a:custGeom>
            <a:avLst/>
            <a:gdLst/>
            <a:ahLst/>
            <a:cxnLst/>
            <a:rect l="l" t="t" r="r" b="b"/>
            <a:pathLst>
              <a:path w="24520492" h="4402586">
                <a:moveTo>
                  <a:pt x="24520492" y="0"/>
                </a:moveTo>
                <a:lnTo>
                  <a:pt x="0" y="0"/>
                </a:lnTo>
                <a:lnTo>
                  <a:pt x="0" y="4402586"/>
                </a:lnTo>
                <a:lnTo>
                  <a:pt x="24520492" y="4402586"/>
                </a:lnTo>
                <a:lnTo>
                  <a:pt x="24520492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"/>
          <p:cNvGrpSpPr/>
          <p:nvPr/>
        </p:nvGrpSpPr>
        <p:grpSpPr>
          <a:xfrm rot="-1168322">
            <a:off x="-6312991" y="-716999"/>
            <a:ext cx="7434779" cy="15382828"/>
            <a:chOff x="0" y="0"/>
            <a:chExt cx="1958131" cy="4051444"/>
          </a:xfrm>
        </p:grpSpPr>
        <p:sp>
          <p:nvSpPr>
            <p:cNvPr id="36" name="Freeform 4"/>
            <p:cNvSpPr/>
            <p:nvPr/>
          </p:nvSpPr>
          <p:spPr>
            <a:xfrm>
              <a:off x="0" y="0"/>
              <a:ext cx="1958131" cy="4051444"/>
            </a:xfrm>
            <a:custGeom>
              <a:avLst/>
              <a:gdLst/>
              <a:ahLst/>
              <a:cxnLst/>
              <a:rect l="l" t="t" r="r" b="b"/>
              <a:pathLst>
                <a:path w="1958131" h="4051444">
                  <a:moveTo>
                    <a:pt x="0" y="0"/>
                  </a:moveTo>
                  <a:lnTo>
                    <a:pt x="1958131" y="0"/>
                  </a:lnTo>
                  <a:lnTo>
                    <a:pt x="1958131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37" name="TextBox 5"/>
            <p:cNvSpPr txBox="1"/>
            <p:nvPr/>
          </p:nvSpPr>
          <p:spPr>
            <a:xfrm>
              <a:off x="0" y="-57150"/>
              <a:ext cx="1958131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7"/>
          <p:cNvGrpSpPr/>
          <p:nvPr/>
        </p:nvGrpSpPr>
        <p:grpSpPr>
          <a:xfrm rot="-1168322">
            <a:off x="-8872201" y="-716999"/>
            <a:ext cx="7434779" cy="15382828"/>
            <a:chOff x="0" y="0"/>
            <a:chExt cx="1958131" cy="4051444"/>
          </a:xfrm>
        </p:grpSpPr>
        <p:sp>
          <p:nvSpPr>
            <p:cNvPr id="39" name="Freeform 8"/>
            <p:cNvSpPr/>
            <p:nvPr/>
          </p:nvSpPr>
          <p:spPr>
            <a:xfrm>
              <a:off x="0" y="0"/>
              <a:ext cx="1958131" cy="4051444"/>
            </a:xfrm>
            <a:custGeom>
              <a:avLst/>
              <a:gdLst/>
              <a:ahLst/>
              <a:cxnLst/>
              <a:rect l="l" t="t" r="r" b="b"/>
              <a:pathLst>
                <a:path w="1958131" h="4051444">
                  <a:moveTo>
                    <a:pt x="0" y="0"/>
                  </a:moveTo>
                  <a:lnTo>
                    <a:pt x="1958131" y="0"/>
                  </a:lnTo>
                  <a:lnTo>
                    <a:pt x="1958131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39515A"/>
            </a:solidFill>
          </p:spPr>
        </p:sp>
        <p:sp>
          <p:nvSpPr>
            <p:cNvPr id="40" name="TextBox 9"/>
            <p:cNvSpPr txBox="1"/>
            <p:nvPr/>
          </p:nvSpPr>
          <p:spPr>
            <a:xfrm>
              <a:off x="0" y="-57150"/>
              <a:ext cx="1958131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Freeform 21"/>
          <p:cNvSpPr/>
          <p:nvPr/>
        </p:nvSpPr>
        <p:spPr>
          <a:xfrm>
            <a:off x="-860878" y="8939274"/>
            <a:ext cx="1442442" cy="1442442"/>
          </a:xfrm>
          <a:custGeom>
            <a:avLst/>
            <a:gdLst/>
            <a:ahLst/>
            <a:cxnLst/>
            <a:rect l="l" t="t" r="r" b="b"/>
            <a:pathLst>
              <a:path w="1442442" h="1442442">
                <a:moveTo>
                  <a:pt x="0" y="0"/>
                </a:moveTo>
                <a:lnTo>
                  <a:pt x="1442442" y="0"/>
                </a:lnTo>
                <a:lnTo>
                  <a:pt x="1442442" y="1442442"/>
                </a:lnTo>
                <a:lnTo>
                  <a:pt x="0" y="1442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4487" y="1333336"/>
            <a:ext cx="7132477" cy="58031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6400" y="1562100"/>
            <a:ext cx="7467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vi-VN"/>
              <a:t>“</a:t>
            </a:r>
            <a:r>
              <a:rPr lang="vi-VN" b="1"/>
              <a:t>The Original Mr. Fuzzy</a:t>
            </a:r>
            <a:r>
              <a:rPr lang="vi-VN"/>
              <a:t>”, mặc dù là sản phẩm chủ lực với doanh thu cao nhất, lại có </a:t>
            </a:r>
            <a:r>
              <a:rPr lang="vi-VN" b="1">
                <a:solidFill>
                  <a:srgbClr val="C00000"/>
                </a:solidFill>
              </a:rPr>
              <a:t>tỷ lệ hoàn trả tương đối cao (~</a:t>
            </a:r>
            <a:r>
              <a:rPr lang="vi-VN" sz="2400" b="1" smtClean="0">
                <a:solidFill>
                  <a:srgbClr val="C00000"/>
                </a:solidFill>
                <a:latin typeface="+mj-lt"/>
              </a:rPr>
              <a:t>5.</a:t>
            </a:r>
            <a:r>
              <a:rPr lang="en-US" sz="2400" b="1" smtClean="0">
                <a:solidFill>
                  <a:srgbClr val="C00000"/>
                </a:solidFill>
                <a:latin typeface="+mj-lt"/>
              </a:rPr>
              <a:t>1%</a:t>
            </a:r>
            <a:r>
              <a:rPr lang="vi-VN" b="1" smtClean="0">
                <a:solidFill>
                  <a:srgbClr val="C00000"/>
                </a:solidFill>
              </a:rPr>
              <a:t>)</a:t>
            </a:r>
            <a:r>
              <a:rPr lang="vi-VN" smtClean="0"/>
              <a:t>, </a:t>
            </a:r>
            <a:r>
              <a:rPr lang="en-US" smtClean="0"/>
              <a:t>ảnh hưởng đáng kế đến doanh thu thực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00199" y="3495800"/>
            <a:ext cx="75438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vi-VN" b="1"/>
              <a:t>Birthday Sugar Panda</a:t>
            </a:r>
            <a:r>
              <a:rPr lang="vi-VN"/>
              <a:t> có </a:t>
            </a:r>
            <a:r>
              <a:rPr lang="vi-VN" b="1">
                <a:solidFill>
                  <a:srgbClr val="C00000"/>
                </a:solidFill>
              </a:rPr>
              <a:t>refund cao nhất (~</a:t>
            </a:r>
            <a:r>
              <a:rPr lang="vi-VN" sz="2400" b="1">
                <a:solidFill>
                  <a:srgbClr val="C00000"/>
                </a:solidFill>
                <a:latin typeface="+mj-lt"/>
              </a:rPr>
              <a:t>6.04%</a:t>
            </a:r>
            <a:r>
              <a:rPr lang="vi-VN" b="1">
                <a:solidFill>
                  <a:srgbClr val="C00000"/>
                </a:solidFill>
              </a:rPr>
              <a:t>) </a:t>
            </a:r>
            <a:r>
              <a:rPr lang="vi-VN"/>
              <a:t>dù doanh thu không </a:t>
            </a:r>
            <a:r>
              <a:rPr lang="vi-VN" smtClean="0"/>
              <a:t>lớn</a:t>
            </a:r>
            <a:r>
              <a:rPr lang="en-US" smtClean="0"/>
              <a:t>, có thể thấy</a:t>
            </a:r>
            <a:r>
              <a:rPr lang="vi-VN" smtClean="0"/>
              <a:t> </a:t>
            </a:r>
            <a:r>
              <a:rPr lang="vi-VN"/>
              <a:t>dấu hiệu rõ ràng về </a:t>
            </a:r>
            <a:r>
              <a:rPr lang="vi-VN" b="1"/>
              <a:t>vấn đề chất lượng hoặc </a:t>
            </a:r>
            <a:r>
              <a:rPr lang="en-US" b="1" smtClean="0"/>
              <a:t>không được như kỳ vọng của khách hàng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76400" y="5429500"/>
            <a:ext cx="74676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vi-VN" b="1"/>
              <a:t>Forever Love Bear</a:t>
            </a:r>
            <a:r>
              <a:rPr lang="vi-VN"/>
              <a:t> có </a:t>
            </a:r>
            <a:r>
              <a:rPr lang="vi-VN" b="1"/>
              <a:t>AOV cao </a:t>
            </a:r>
            <a:r>
              <a:rPr lang="en-US" b="1" smtClean="0"/>
              <a:t>nhưng</a:t>
            </a:r>
            <a:r>
              <a:rPr lang="vi-VN" b="1" smtClean="0"/>
              <a:t> </a:t>
            </a:r>
            <a:r>
              <a:rPr lang="vi-VN" b="1"/>
              <a:t>refund thấp (~</a:t>
            </a:r>
            <a:r>
              <a:rPr lang="vi-VN" sz="2400" b="1">
                <a:solidFill>
                  <a:srgbClr val="C00000"/>
                </a:solidFill>
                <a:latin typeface="+mj-lt"/>
              </a:rPr>
              <a:t>2.23</a:t>
            </a:r>
            <a:r>
              <a:rPr lang="vi-VN" sz="2400" b="1" smtClean="0">
                <a:solidFill>
                  <a:srgbClr val="C00000"/>
                </a:solidFill>
                <a:latin typeface="+mj-lt"/>
              </a:rPr>
              <a:t>%)</a:t>
            </a:r>
            <a:r>
              <a:rPr lang="en-US" smtClean="0"/>
              <a:t>, chứng tỏ</a:t>
            </a:r>
            <a:r>
              <a:rPr lang="vi-VN" smtClean="0"/>
              <a:t>sản </a:t>
            </a:r>
            <a:r>
              <a:rPr lang="vi-VN"/>
              <a:t>phẩm có </a:t>
            </a:r>
            <a:r>
              <a:rPr lang="vi-VN" b="1"/>
              <a:t>chất lượng tốt và tiềm năng scale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76400" y="6947700"/>
            <a:ext cx="769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vi-VN" b="1"/>
              <a:t>Hudson River Mini</a:t>
            </a:r>
            <a:r>
              <a:rPr lang="vi-VN"/>
              <a:t> có refund thấp (~1.28%) nhưng AOV </a:t>
            </a:r>
            <a:r>
              <a:rPr lang="vi-VN" smtClean="0"/>
              <a:t>thấp</a:t>
            </a:r>
            <a:r>
              <a:rPr lang="en-US" smtClean="0"/>
              <a:t>, sản phẩm này </a:t>
            </a:r>
            <a:r>
              <a:rPr lang="vi-VN" smtClean="0"/>
              <a:t>phù </a:t>
            </a:r>
            <a:r>
              <a:rPr lang="vi-VN"/>
              <a:t>hợp chiến lược volume hơn là lợi nhuận cao</a:t>
            </a:r>
            <a:endParaRPr lang="en-US"/>
          </a:p>
        </p:txBody>
      </p:sp>
      <p:grpSp>
        <p:nvGrpSpPr>
          <p:cNvPr id="16" name="Group 3"/>
          <p:cNvGrpSpPr/>
          <p:nvPr/>
        </p:nvGrpSpPr>
        <p:grpSpPr>
          <a:xfrm rot="2816011">
            <a:off x="16322291" y="5120568"/>
            <a:ext cx="1249345" cy="6866663"/>
            <a:chOff x="0" y="0"/>
            <a:chExt cx="1429909" cy="4051444"/>
          </a:xfrm>
        </p:grpSpPr>
        <p:sp>
          <p:nvSpPr>
            <p:cNvPr id="17" name="Freeform 4"/>
            <p:cNvSpPr/>
            <p:nvPr/>
          </p:nvSpPr>
          <p:spPr>
            <a:xfrm>
              <a:off x="0" y="0"/>
              <a:ext cx="1429909" cy="4051444"/>
            </a:xfrm>
            <a:custGeom>
              <a:avLst/>
              <a:gdLst/>
              <a:ahLst/>
              <a:cxnLst/>
              <a:rect l="l" t="t" r="r" b="b"/>
              <a:pathLst>
                <a:path w="1429909" h="4051444">
                  <a:moveTo>
                    <a:pt x="0" y="0"/>
                  </a:moveTo>
                  <a:lnTo>
                    <a:pt x="1429909" y="0"/>
                  </a:lnTo>
                  <a:lnTo>
                    <a:pt x="1429909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18" name="TextBox 5"/>
            <p:cNvSpPr txBox="1"/>
            <p:nvPr/>
          </p:nvSpPr>
          <p:spPr>
            <a:xfrm>
              <a:off x="0" y="-57150"/>
              <a:ext cx="1429909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7"/>
          <p:cNvGrpSpPr/>
          <p:nvPr/>
        </p:nvGrpSpPr>
        <p:grpSpPr>
          <a:xfrm rot="2827636">
            <a:off x="15326775" y="8230540"/>
            <a:ext cx="7288685" cy="7366710"/>
            <a:chOff x="0" y="0"/>
            <a:chExt cx="1958131" cy="4051444"/>
          </a:xfrm>
        </p:grpSpPr>
        <p:sp>
          <p:nvSpPr>
            <p:cNvPr id="20" name="Freeform 8"/>
            <p:cNvSpPr/>
            <p:nvPr/>
          </p:nvSpPr>
          <p:spPr>
            <a:xfrm>
              <a:off x="0" y="0"/>
              <a:ext cx="1958131" cy="4051444"/>
            </a:xfrm>
            <a:custGeom>
              <a:avLst/>
              <a:gdLst/>
              <a:ahLst/>
              <a:cxnLst/>
              <a:rect l="l" t="t" r="r" b="b"/>
              <a:pathLst>
                <a:path w="1958131" h="4051444">
                  <a:moveTo>
                    <a:pt x="0" y="0"/>
                  </a:moveTo>
                  <a:lnTo>
                    <a:pt x="1958131" y="0"/>
                  </a:lnTo>
                  <a:lnTo>
                    <a:pt x="1958131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39515A"/>
            </a:solidFill>
          </p:spPr>
        </p:sp>
        <p:sp>
          <p:nvSpPr>
            <p:cNvPr id="21" name="TextBox 9"/>
            <p:cNvSpPr txBox="1"/>
            <p:nvPr/>
          </p:nvSpPr>
          <p:spPr>
            <a:xfrm>
              <a:off x="0" y="-57150"/>
              <a:ext cx="1958131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9508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316910" y="6065035"/>
            <a:ext cx="24520492" cy="4402586"/>
          </a:xfrm>
          <a:custGeom>
            <a:avLst/>
            <a:gdLst/>
            <a:ahLst/>
            <a:cxnLst/>
            <a:rect l="l" t="t" r="r" b="b"/>
            <a:pathLst>
              <a:path w="24520492" h="4402586">
                <a:moveTo>
                  <a:pt x="24520492" y="0"/>
                </a:moveTo>
                <a:lnTo>
                  <a:pt x="0" y="0"/>
                </a:lnTo>
                <a:lnTo>
                  <a:pt x="0" y="4402586"/>
                </a:lnTo>
                <a:lnTo>
                  <a:pt x="24520492" y="4402586"/>
                </a:lnTo>
                <a:lnTo>
                  <a:pt x="24520492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862888">
            <a:off x="15827254" y="-3881126"/>
            <a:ext cx="5429187" cy="15382828"/>
            <a:chOff x="0" y="0"/>
            <a:chExt cx="1429909" cy="40514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29909" cy="4051444"/>
            </a:xfrm>
            <a:custGeom>
              <a:avLst/>
              <a:gdLst/>
              <a:ahLst/>
              <a:cxnLst/>
              <a:rect l="l" t="t" r="r" b="b"/>
              <a:pathLst>
                <a:path w="1429909" h="4051444">
                  <a:moveTo>
                    <a:pt x="0" y="0"/>
                  </a:moveTo>
                  <a:lnTo>
                    <a:pt x="1429909" y="0"/>
                  </a:lnTo>
                  <a:lnTo>
                    <a:pt x="1429909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429909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6270710" flipV="1">
            <a:off x="11455062" y="4514251"/>
            <a:ext cx="13353097" cy="404258"/>
          </a:xfrm>
          <a:custGeom>
            <a:avLst/>
            <a:gdLst/>
            <a:ahLst/>
            <a:cxnLst/>
            <a:rect l="l" t="t" r="r" b="b"/>
            <a:pathLst>
              <a:path w="13353097" h="404258">
                <a:moveTo>
                  <a:pt x="0" y="404258"/>
                </a:moveTo>
                <a:lnTo>
                  <a:pt x="13353096" y="404258"/>
                </a:lnTo>
                <a:lnTo>
                  <a:pt x="13353096" y="0"/>
                </a:lnTo>
                <a:lnTo>
                  <a:pt x="0" y="0"/>
                </a:lnTo>
                <a:lnTo>
                  <a:pt x="0" y="404258"/>
                </a:lnTo>
                <a:close/>
              </a:path>
            </a:pathLst>
          </a:custGeom>
          <a:blipFill>
            <a:blip r:embed="rId4"/>
            <a:stretch>
              <a:fillRect t="-1843398"/>
            </a:stretch>
          </a:blipFill>
        </p:spPr>
      </p:sp>
      <p:grpSp>
        <p:nvGrpSpPr>
          <p:cNvPr id="7" name="Group 7"/>
          <p:cNvGrpSpPr/>
          <p:nvPr/>
        </p:nvGrpSpPr>
        <p:grpSpPr>
          <a:xfrm rot="-862888">
            <a:off x="18088222" y="-3881126"/>
            <a:ext cx="5429187" cy="15382828"/>
            <a:chOff x="0" y="0"/>
            <a:chExt cx="1429909" cy="40514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29909" cy="4051444"/>
            </a:xfrm>
            <a:custGeom>
              <a:avLst/>
              <a:gdLst/>
              <a:ahLst/>
              <a:cxnLst/>
              <a:rect l="l" t="t" r="r" b="b"/>
              <a:pathLst>
                <a:path w="1429909" h="4051444">
                  <a:moveTo>
                    <a:pt x="0" y="0"/>
                  </a:moveTo>
                  <a:lnTo>
                    <a:pt x="1429909" y="0"/>
                  </a:lnTo>
                  <a:lnTo>
                    <a:pt x="1429909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39515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429909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852149">
            <a:off x="14691038" y="-1970389"/>
            <a:ext cx="887655" cy="5727768"/>
            <a:chOff x="0" y="0"/>
            <a:chExt cx="233786" cy="15085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3786" cy="1508548"/>
            </a:xfrm>
            <a:custGeom>
              <a:avLst/>
              <a:gdLst/>
              <a:ahLst/>
              <a:cxnLst/>
              <a:rect l="l" t="t" r="r" b="b"/>
              <a:pathLst>
                <a:path w="233786" h="1508548">
                  <a:moveTo>
                    <a:pt x="0" y="0"/>
                  </a:moveTo>
                  <a:lnTo>
                    <a:pt x="233786" y="0"/>
                  </a:lnTo>
                  <a:lnTo>
                    <a:pt x="233786" y="1508548"/>
                  </a:lnTo>
                  <a:lnTo>
                    <a:pt x="0" y="1508548"/>
                  </a:lnTo>
                  <a:close/>
                </a:path>
              </a:pathLst>
            </a:custGeom>
            <a:gradFill rotWithShape="1">
              <a:gsLst>
                <a:gs pos="0">
                  <a:srgbClr val="20989B">
                    <a:alpha val="100000"/>
                  </a:srgbClr>
                </a:gs>
                <a:gs pos="50000">
                  <a:srgbClr val="C3FEFF">
                    <a:alpha val="50500"/>
                  </a:srgbClr>
                </a:gs>
                <a:gs pos="100000">
                  <a:srgbClr val="F9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33786" cy="1565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32636" y="1499161"/>
            <a:ext cx="941070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-315" smtClean="0">
                <a:solidFill>
                  <a:srgbClr val="39515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RECOMMENDATION</a:t>
            </a:r>
            <a:endParaRPr lang="en-US" sz="7500" b="1" spc="-315">
              <a:solidFill>
                <a:srgbClr val="39515A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0124422" y="6395071"/>
            <a:ext cx="5115578" cy="825303"/>
            <a:chOff x="0" y="0"/>
            <a:chExt cx="2519038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19038" cy="406400"/>
            </a:xfrm>
            <a:custGeom>
              <a:avLst/>
              <a:gdLst/>
              <a:ahLst/>
              <a:cxnLst/>
              <a:rect l="l" t="t" r="r" b="b"/>
              <a:pathLst>
                <a:path w="2519038" h="406400">
                  <a:moveTo>
                    <a:pt x="2315838" y="0"/>
                  </a:moveTo>
                  <a:cubicBezTo>
                    <a:pt x="2428062" y="0"/>
                    <a:pt x="2519038" y="90976"/>
                    <a:pt x="2519038" y="203200"/>
                  </a:cubicBezTo>
                  <a:cubicBezTo>
                    <a:pt x="2519038" y="315424"/>
                    <a:pt x="2428062" y="406400"/>
                    <a:pt x="231583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519038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4127160"/>
            <a:ext cx="4412511" cy="825303"/>
            <a:chOff x="0" y="0"/>
            <a:chExt cx="2172831" cy="406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72831" cy="406400"/>
            </a:xfrm>
            <a:custGeom>
              <a:avLst/>
              <a:gdLst/>
              <a:ahLst/>
              <a:cxnLst/>
              <a:rect l="l" t="t" r="r" b="b"/>
              <a:pathLst>
                <a:path w="2172831" h="406400">
                  <a:moveTo>
                    <a:pt x="1969631" y="0"/>
                  </a:moveTo>
                  <a:cubicBezTo>
                    <a:pt x="2081855" y="0"/>
                    <a:pt x="2172831" y="90976"/>
                    <a:pt x="2172831" y="203200"/>
                  </a:cubicBezTo>
                  <a:cubicBezTo>
                    <a:pt x="2172831" y="315424"/>
                    <a:pt x="2081855" y="406400"/>
                    <a:pt x="19696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2172831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93310" y="2577021"/>
            <a:ext cx="6653327" cy="825303"/>
            <a:chOff x="0" y="0"/>
            <a:chExt cx="2519038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19038" cy="406400"/>
            </a:xfrm>
            <a:custGeom>
              <a:avLst/>
              <a:gdLst/>
              <a:ahLst/>
              <a:cxnLst/>
              <a:rect l="l" t="t" r="r" b="b"/>
              <a:pathLst>
                <a:path w="2519038" h="406400">
                  <a:moveTo>
                    <a:pt x="2315838" y="0"/>
                  </a:moveTo>
                  <a:cubicBezTo>
                    <a:pt x="2428062" y="0"/>
                    <a:pt x="2519038" y="90976"/>
                    <a:pt x="2519038" y="203200"/>
                  </a:cubicBezTo>
                  <a:cubicBezTo>
                    <a:pt x="2519038" y="315424"/>
                    <a:pt x="2428062" y="406400"/>
                    <a:pt x="231583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2519038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554341" y="6468311"/>
            <a:ext cx="4255740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9"/>
              </a:lnSpc>
            </a:pPr>
            <a:r>
              <a:rPr lang="en-US" sz="2400" b="1" spc="-167" smtClean="0">
                <a:solidFill>
                  <a:srgbClr val="FFFFFF"/>
                </a:solidFill>
                <a:latin typeface="+mj-lt"/>
                <a:ea typeface="Poppins Semi-Bold"/>
                <a:cs typeface="Poppins Semi-Bold"/>
                <a:sym typeface="Poppins Semi-Bold"/>
              </a:rPr>
              <a:t>Tối ưu danh mục sản phẩm</a:t>
            </a:r>
            <a:endParaRPr lang="en-US" sz="2400" b="1" spc="-167">
              <a:solidFill>
                <a:srgbClr val="FFFFFF"/>
              </a:solidFill>
              <a:latin typeface="+mj-lt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458619" y="4217232"/>
            <a:ext cx="3552673" cy="50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9"/>
              </a:lnSpc>
            </a:pPr>
            <a:r>
              <a:rPr lang="en-US" sz="2400" b="1" spc="-167" smtClean="0">
                <a:solidFill>
                  <a:srgbClr val="FFFFFF"/>
                </a:solidFill>
                <a:latin typeface="+mj-lt"/>
                <a:ea typeface="Poppins Semi-Bold"/>
                <a:cs typeface="Poppins Semi-Bold"/>
                <a:sym typeface="Poppins Semi-Bold"/>
              </a:rPr>
              <a:t>Tối ưu kênh marketing</a:t>
            </a:r>
            <a:endParaRPr lang="en-US" sz="2400" b="1" spc="-167">
              <a:solidFill>
                <a:srgbClr val="FFFFFF"/>
              </a:solidFill>
              <a:latin typeface="+mj-lt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815896" y="2644763"/>
            <a:ext cx="6630741" cy="502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9"/>
              </a:lnSpc>
            </a:pPr>
            <a:r>
              <a:rPr lang="en-US" sz="2400" b="1" spc="-167" smtClean="0">
                <a:solidFill>
                  <a:srgbClr val="FFFFFF"/>
                </a:solidFill>
                <a:latin typeface="+mj-lt"/>
                <a:ea typeface="Poppins Semi-Bold"/>
                <a:cs typeface="Poppins Semi-Bold"/>
                <a:sym typeface="Poppins Semi-Bold"/>
              </a:rPr>
              <a:t>Tối ưu giai đoạn đầu funnel (Session </a:t>
            </a:r>
            <a:r>
              <a:rPr lang="en-US" sz="2400" b="1" spc="-167" smtClean="0">
                <a:solidFill>
                  <a:srgbClr val="FFFFFF"/>
                </a:solidFill>
                <a:latin typeface="+mj-lt"/>
                <a:ea typeface="Poppins Semi-Bold"/>
                <a:cs typeface="Poppins Semi-Bold"/>
                <a:sym typeface="Wingdings" panose="05000000000000000000" pitchFamily="2" charset="2"/>
              </a:rPr>
              <a:t> product)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1600" y="3695700"/>
            <a:ext cx="645503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/>
              <a:t>T</a:t>
            </a:r>
            <a:r>
              <a:rPr lang="vi-VN" b="1" smtClean="0"/>
              <a:t>ối </a:t>
            </a:r>
            <a:r>
              <a:rPr lang="vi-VN" b="1"/>
              <a:t>ưu nội dung landing page</a:t>
            </a:r>
            <a:r>
              <a:rPr lang="vi-VN"/>
              <a:t>, cải thiện UX/UI và điều hướng người dùng đến trang </a:t>
            </a:r>
            <a:r>
              <a:rPr lang="vi-VN"/>
              <a:t>sản </a:t>
            </a:r>
            <a:r>
              <a:rPr lang="vi-VN" smtClean="0"/>
              <a:t>phẩm</a:t>
            </a:r>
            <a:endParaRPr lang="en-US" smtClean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smtClean="0"/>
              <a:t>Phân bổ lại traffic </a:t>
            </a:r>
            <a:r>
              <a:rPr lang="en-US" smtClean="0"/>
              <a:t>từ các trang có lưu lượng truy cập cao sang /lader-5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mtClean="0"/>
              <a:t>Thực hiện </a:t>
            </a:r>
            <a:r>
              <a:rPr lang="en-US" b="1" smtClean="0"/>
              <a:t>kiểm định A/B Testing </a:t>
            </a:r>
            <a:r>
              <a:rPr lang="en-US" smtClean="0"/>
              <a:t>các phiên bản lading page</a:t>
            </a:r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32636" y="5448299"/>
            <a:ext cx="68587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mtClean="0"/>
              <a:t>Giảm đầu tư vào các kênh có </a:t>
            </a:r>
            <a:r>
              <a:rPr lang="en-US" b="1" smtClean="0"/>
              <a:t>tỷ lệ chuyển đổi thấp </a:t>
            </a:r>
            <a:r>
              <a:rPr lang="en-US" smtClean="0"/>
              <a:t>(socialbook pilot)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/>
              <a:t>Tăng ngân sách cho </a:t>
            </a:r>
            <a:r>
              <a:rPr lang="en-US" b="1"/>
              <a:t>brand campaigns và kênh có </a:t>
            </a:r>
            <a:r>
              <a:rPr lang="en-US" b="1"/>
              <a:t>CR </a:t>
            </a:r>
            <a:r>
              <a:rPr lang="en-US" b="1" smtClean="0"/>
              <a:t>cao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vi-VN"/>
              <a:t>Tối ưu targeting để nâng cao chất lượng </a:t>
            </a:r>
            <a:r>
              <a:rPr lang="vi-VN"/>
              <a:t>traffic </a:t>
            </a:r>
            <a:endParaRPr lang="vi-VN"/>
          </a:p>
        </p:txBody>
      </p:sp>
      <p:sp>
        <p:nvSpPr>
          <p:cNvPr id="31" name="TextBox 30"/>
          <p:cNvSpPr txBox="1"/>
          <p:nvPr/>
        </p:nvSpPr>
        <p:spPr>
          <a:xfrm>
            <a:off x="9404929" y="7508217"/>
            <a:ext cx="613987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/>
              <a:t>Kiểm tra và cải thiện các sản phẩm có </a:t>
            </a:r>
            <a:r>
              <a:rPr lang="en-US" b="1"/>
              <a:t>refund </a:t>
            </a:r>
            <a:r>
              <a:rPr lang="en-US" b="1" smtClean="0"/>
              <a:t>cao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/>
              <a:t>Tập trung scale sản phẩm </a:t>
            </a:r>
            <a:r>
              <a:rPr lang="en-US"/>
              <a:t>có </a:t>
            </a:r>
            <a:r>
              <a:rPr lang="en-US" b="1" smtClean="0"/>
              <a:t>tỷ lệ chuyển đổi </a:t>
            </a:r>
            <a:r>
              <a:rPr lang="en-US" b="1"/>
              <a:t>cao </a:t>
            </a:r>
            <a:r>
              <a:rPr lang="en-US" b="1" smtClean="0"/>
              <a:t>và tỷ lệ hoàn hàng thấp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80409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341491" y="6051085"/>
            <a:ext cx="24520492" cy="4402586"/>
          </a:xfrm>
          <a:custGeom>
            <a:avLst/>
            <a:gdLst/>
            <a:ahLst/>
            <a:cxnLst/>
            <a:rect l="l" t="t" r="r" b="b"/>
            <a:pathLst>
              <a:path w="24520492" h="4402586">
                <a:moveTo>
                  <a:pt x="24520492" y="0"/>
                </a:moveTo>
                <a:lnTo>
                  <a:pt x="0" y="0"/>
                </a:lnTo>
                <a:lnTo>
                  <a:pt x="0" y="4402586"/>
                </a:lnTo>
                <a:lnTo>
                  <a:pt x="24520492" y="4402586"/>
                </a:lnTo>
                <a:lnTo>
                  <a:pt x="24520492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168322">
            <a:off x="-591160" y="-1840415"/>
            <a:ext cx="7434779" cy="15382828"/>
            <a:chOff x="0" y="0"/>
            <a:chExt cx="1958131" cy="40514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8131" cy="4051444"/>
            </a:xfrm>
            <a:custGeom>
              <a:avLst/>
              <a:gdLst/>
              <a:ahLst/>
              <a:cxnLst/>
              <a:rect l="l" t="t" r="r" b="b"/>
              <a:pathLst>
                <a:path w="1958131" h="4051444">
                  <a:moveTo>
                    <a:pt x="0" y="0"/>
                  </a:moveTo>
                  <a:lnTo>
                    <a:pt x="1958131" y="0"/>
                  </a:lnTo>
                  <a:lnTo>
                    <a:pt x="1958131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958131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6579275">
            <a:off x="-3647729" y="4649456"/>
            <a:ext cx="13353097" cy="404258"/>
          </a:xfrm>
          <a:custGeom>
            <a:avLst/>
            <a:gdLst/>
            <a:ahLst/>
            <a:cxnLst/>
            <a:rect l="l" t="t" r="r" b="b"/>
            <a:pathLst>
              <a:path w="13353097" h="404258">
                <a:moveTo>
                  <a:pt x="0" y="0"/>
                </a:moveTo>
                <a:lnTo>
                  <a:pt x="13353096" y="0"/>
                </a:lnTo>
                <a:lnTo>
                  <a:pt x="13353096" y="404258"/>
                </a:lnTo>
                <a:lnTo>
                  <a:pt x="0" y="404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43398"/>
            </a:stretch>
          </a:blipFill>
        </p:spPr>
      </p:sp>
      <p:grpSp>
        <p:nvGrpSpPr>
          <p:cNvPr id="7" name="Group 7"/>
          <p:cNvGrpSpPr/>
          <p:nvPr/>
        </p:nvGrpSpPr>
        <p:grpSpPr>
          <a:xfrm rot="-1168322">
            <a:off x="-4404526" y="-1840415"/>
            <a:ext cx="7434779" cy="15382828"/>
            <a:chOff x="0" y="0"/>
            <a:chExt cx="1958131" cy="40514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8131" cy="4051444"/>
            </a:xfrm>
            <a:custGeom>
              <a:avLst/>
              <a:gdLst/>
              <a:ahLst/>
              <a:cxnLst/>
              <a:rect l="l" t="t" r="r" b="b"/>
              <a:pathLst>
                <a:path w="1958131" h="4051444">
                  <a:moveTo>
                    <a:pt x="0" y="0"/>
                  </a:moveTo>
                  <a:lnTo>
                    <a:pt x="1958131" y="0"/>
                  </a:lnTo>
                  <a:lnTo>
                    <a:pt x="1958131" y="4051444"/>
                  </a:lnTo>
                  <a:lnTo>
                    <a:pt x="0" y="4051444"/>
                  </a:lnTo>
                  <a:close/>
                </a:path>
              </a:pathLst>
            </a:custGeom>
            <a:solidFill>
              <a:srgbClr val="39515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958131" cy="4108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2816" y="1461689"/>
            <a:ext cx="6973020" cy="7363621"/>
            <a:chOff x="0" y="0"/>
            <a:chExt cx="5960491" cy="6294374"/>
          </a:xfrm>
        </p:grpSpPr>
        <p:sp>
          <p:nvSpPr>
            <p:cNvPr id="11" name="Freeform 11"/>
            <p:cNvSpPr/>
            <p:nvPr/>
          </p:nvSpPr>
          <p:spPr>
            <a:xfrm>
              <a:off x="0" y="-44"/>
              <a:ext cx="5960480" cy="6294418"/>
            </a:xfrm>
            <a:custGeom>
              <a:avLst/>
              <a:gdLst/>
              <a:ahLst/>
              <a:cxnLst/>
              <a:rect l="l" t="t" r="r" b="b"/>
              <a:pathLst>
                <a:path w="5960480" h="6294418">
                  <a:moveTo>
                    <a:pt x="4226814" y="1119549"/>
                  </a:moveTo>
                  <a:cubicBezTo>
                    <a:pt x="4173601" y="967911"/>
                    <a:pt x="4001770" y="815892"/>
                    <a:pt x="3844798" y="781729"/>
                  </a:cubicBezTo>
                  <a:lnTo>
                    <a:pt x="285369" y="6521"/>
                  </a:lnTo>
                  <a:cubicBezTo>
                    <a:pt x="128397" y="-27642"/>
                    <a:pt x="0" y="75863"/>
                    <a:pt x="0" y="236518"/>
                  </a:cubicBezTo>
                  <a:lnTo>
                    <a:pt x="0" y="6002318"/>
                  </a:lnTo>
                  <a:cubicBezTo>
                    <a:pt x="0" y="6162973"/>
                    <a:pt x="131445" y="6294418"/>
                    <a:pt x="292100" y="6294418"/>
                  </a:cubicBezTo>
                  <a:lnTo>
                    <a:pt x="5749544" y="6294418"/>
                  </a:lnTo>
                  <a:cubicBezTo>
                    <a:pt x="5910199" y="6294418"/>
                    <a:pt x="5998083" y="6170339"/>
                    <a:pt x="5944997" y="6018828"/>
                  </a:cubicBezTo>
                  <a:lnTo>
                    <a:pt x="4226814" y="1119549"/>
                  </a:lnTo>
                  <a:close/>
                </a:path>
              </a:pathLst>
            </a:custGeom>
            <a:blipFill>
              <a:blip r:embed="rId5"/>
              <a:stretch>
                <a:fillRect l="-19013" t="-38177" r="-326" b="-31122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 rot="-1168322">
            <a:off x="4937715" y="-2713330"/>
            <a:ext cx="887655" cy="8696949"/>
            <a:chOff x="0" y="0"/>
            <a:chExt cx="233786" cy="22905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3786" cy="2290554"/>
            </a:xfrm>
            <a:custGeom>
              <a:avLst/>
              <a:gdLst/>
              <a:ahLst/>
              <a:cxnLst/>
              <a:rect l="l" t="t" r="r" b="b"/>
              <a:pathLst>
                <a:path w="233786" h="2290554">
                  <a:moveTo>
                    <a:pt x="0" y="0"/>
                  </a:moveTo>
                  <a:lnTo>
                    <a:pt x="233786" y="0"/>
                  </a:lnTo>
                  <a:lnTo>
                    <a:pt x="233786" y="2290554"/>
                  </a:lnTo>
                  <a:lnTo>
                    <a:pt x="0" y="2290554"/>
                  </a:lnTo>
                  <a:close/>
                </a:path>
              </a:pathLst>
            </a:custGeom>
            <a:gradFill rotWithShape="1">
              <a:gsLst>
                <a:gs pos="0">
                  <a:srgbClr val="20989B">
                    <a:alpha val="100000"/>
                  </a:srgbClr>
                </a:gs>
                <a:gs pos="50000">
                  <a:srgbClr val="C3FEFF">
                    <a:alpha val="50500"/>
                  </a:srgbClr>
                </a:gs>
                <a:gs pos="100000">
                  <a:srgbClr val="F9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33786" cy="2347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168322">
            <a:off x="7299902" y="5618795"/>
            <a:ext cx="887655" cy="5600547"/>
            <a:chOff x="0" y="0"/>
            <a:chExt cx="233786" cy="14750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3786" cy="1475041"/>
            </a:xfrm>
            <a:custGeom>
              <a:avLst/>
              <a:gdLst/>
              <a:ahLst/>
              <a:cxnLst/>
              <a:rect l="l" t="t" r="r" b="b"/>
              <a:pathLst>
                <a:path w="233786" h="1475041">
                  <a:moveTo>
                    <a:pt x="0" y="0"/>
                  </a:moveTo>
                  <a:lnTo>
                    <a:pt x="233786" y="0"/>
                  </a:lnTo>
                  <a:lnTo>
                    <a:pt x="233786" y="1475041"/>
                  </a:lnTo>
                  <a:lnTo>
                    <a:pt x="0" y="1475041"/>
                  </a:lnTo>
                  <a:close/>
                </a:path>
              </a:pathLst>
            </a:custGeom>
            <a:gradFill rotWithShape="1">
              <a:gsLst>
                <a:gs pos="0">
                  <a:srgbClr val="F9FFFF">
                    <a:alpha val="0"/>
                  </a:srgbClr>
                </a:gs>
                <a:gs pos="50000">
                  <a:srgbClr val="C3FEFF">
                    <a:alpha val="50500"/>
                  </a:srgbClr>
                </a:gs>
                <a:gs pos="100000">
                  <a:srgbClr val="20989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33786" cy="1532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322406" y="8252378"/>
            <a:ext cx="1014510" cy="1005922"/>
          </a:xfrm>
          <a:custGeom>
            <a:avLst/>
            <a:gdLst/>
            <a:ahLst/>
            <a:cxnLst/>
            <a:rect l="l" t="t" r="r" b="b"/>
            <a:pathLst>
              <a:path w="1014510" h="1005922">
                <a:moveTo>
                  <a:pt x="0" y="0"/>
                </a:moveTo>
                <a:lnTo>
                  <a:pt x="1014510" y="0"/>
                </a:lnTo>
                <a:lnTo>
                  <a:pt x="1014510" y="1005922"/>
                </a:lnTo>
                <a:lnTo>
                  <a:pt x="0" y="1005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t="-106388" r="-103152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631539" y="1080376"/>
            <a:ext cx="1764021" cy="1764021"/>
          </a:xfrm>
          <a:custGeom>
            <a:avLst/>
            <a:gdLst/>
            <a:ahLst/>
            <a:cxnLst/>
            <a:rect l="l" t="t" r="r" b="b"/>
            <a:pathLst>
              <a:path w="1764021" h="1764021">
                <a:moveTo>
                  <a:pt x="0" y="0"/>
                </a:moveTo>
                <a:lnTo>
                  <a:pt x="1764021" y="0"/>
                </a:lnTo>
                <a:lnTo>
                  <a:pt x="1764021" y="1764020"/>
                </a:lnTo>
                <a:lnTo>
                  <a:pt x="0" y="17640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4999"/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953811" y="5004084"/>
            <a:ext cx="4591447" cy="4583099"/>
          </a:xfrm>
          <a:custGeom>
            <a:avLst/>
            <a:gdLst/>
            <a:ahLst/>
            <a:cxnLst/>
            <a:rect l="l" t="t" r="r" b="b"/>
            <a:pathLst>
              <a:path w="4591447" h="4583099">
                <a:moveTo>
                  <a:pt x="0" y="0"/>
                </a:moveTo>
                <a:lnTo>
                  <a:pt x="4591448" y="0"/>
                </a:lnTo>
                <a:lnTo>
                  <a:pt x="4591448" y="4583100"/>
                </a:lnTo>
                <a:lnTo>
                  <a:pt x="0" y="45831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5269577" y="5332968"/>
            <a:ext cx="3925332" cy="392533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989B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05087" y="5568478"/>
            <a:ext cx="3454312" cy="345431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-25000" r="-25000"/>
              </a:stretch>
            </a:blipFill>
          </p:spPr>
        </p:sp>
      </p:grpSp>
      <p:sp>
        <p:nvSpPr>
          <p:cNvPr id="28" name="Freeform 28"/>
          <p:cNvSpPr/>
          <p:nvPr/>
        </p:nvSpPr>
        <p:spPr>
          <a:xfrm>
            <a:off x="7183577" y="1662427"/>
            <a:ext cx="1775822" cy="216327"/>
          </a:xfrm>
          <a:custGeom>
            <a:avLst/>
            <a:gdLst/>
            <a:ahLst/>
            <a:cxnLst/>
            <a:rect l="l" t="t" r="r" b="b"/>
            <a:pathLst>
              <a:path w="1775822" h="216327">
                <a:moveTo>
                  <a:pt x="0" y="0"/>
                </a:moveTo>
                <a:lnTo>
                  <a:pt x="1775822" y="0"/>
                </a:lnTo>
                <a:lnTo>
                  <a:pt x="1775822" y="216327"/>
                </a:lnTo>
                <a:lnTo>
                  <a:pt x="0" y="2163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1752420" y="8737432"/>
            <a:ext cx="453039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49"/>
              </a:lnSpc>
            </a:pPr>
            <a:r>
              <a:rPr lang="en-US" sz="2499" b="1" smtClean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Anh.ntm</a:t>
            </a:r>
            <a:endParaRPr lang="en-US" sz="24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194185" y="2341367"/>
            <a:ext cx="9065115" cy="3263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30"/>
              </a:lnSpc>
            </a:pPr>
            <a:r>
              <a:rPr lang="en-US" sz="21000" b="1" spc="-882">
                <a:solidFill>
                  <a:srgbClr val="20989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07618" y="4615693"/>
            <a:ext cx="6151682" cy="3263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30"/>
              </a:lnSpc>
            </a:pPr>
            <a:r>
              <a:rPr lang="en-US" sz="21000" b="1" spc="-882">
                <a:solidFill>
                  <a:srgbClr val="39515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6">
      <a:majorFont>
        <a:latin typeface="Segoe UI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1417</Words>
  <Application>Microsoft Office PowerPoint</Application>
  <PresentationFormat>Custom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Segoe UI Light</vt:lpstr>
      <vt:lpstr>Wingdings</vt:lpstr>
      <vt:lpstr>Poppins Bold</vt:lpstr>
      <vt:lpstr>Segoe UI Black</vt:lpstr>
      <vt:lpstr>Arial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Nguyễn Minh Ánh</cp:lastModifiedBy>
  <cp:revision>28</cp:revision>
  <dcterms:created xsi:type="dcterms:W3CDTF">2006-08-16T00:00:00Z</dcterms:created>
  <dcterms:modified xsi:type="dcterms:W3CDTF">2026-04-16T03:44:32Z</dcterms:modified>
  <dc:identifier>DAHG5mvDPhI</dc:identifier>
</cp:coreProperties>
</file>